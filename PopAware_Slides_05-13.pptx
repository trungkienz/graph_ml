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Popularity-Aware LightGCN: backbone LightGCN cộng 4 thành phần độc lập, bật/tắt qua use_ile, aug_main, use_cl, neg_pop_beta — cho phép ablation chính xác từng phần. ILE sửa hàm mục tiêu (gradient từng tương tác); Degree-Aware Augmentation sửa cấu trúc đồ thị lan truyền; Contrastive Learning sửa hình dạng không gian embedding; Popularity-aware Negative Sampling sửa tín hiệu học đối nghịch. Đây là điểm thiết kế đáng chú ý: 4 thành phần tấn công 4 điểm khác nhau trong vòng đời huấn luyện, không phải cộng dồn nhiều regularizer cho chắc ăn. Lưu ý: ② và ③ dùng chung tín hiệu xác suất drop theo degree, nên đóng góp riêng của từng thành phần chưa tách bạch hoàn toàn (xem hạn chế ở slide 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Lưu ý lịch sử: bản đầu tiên dùng head_loss - tail_loss (không bình phương) -&gt; bị lật dấu và không bị chặn dưới, khiến optimizer đẩy NGƯỢC về phía popularity thay vì giảm bias. Đã phát hiện và sửa thành bình phương độ chênh lệch, đúng như công thức trên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Degree-Aware Augmentation và Contrastive Learning dùng chung một tín hiệu (xác suất drop theo degree) để tạo 2 view augment; do đó đóng góp RIÊNG của từng thành phần chưa được tách bạch trong kết quả hiện tại (cần ablation Aug-only / CL-only ở phần hạn chế, slide 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beta=0 phục hồi đúng sampler uniform gốc, nên đây là một mở rộng an toàn (không phá vỡ hành vi cũ khi tắt).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hạ tầng đảm bảo kết quả có thể tin cậy được: không có data leakage giữa train/val/test, và mọi run đều có thể dừng/tiếp tục/kiểm tra lại qua checkpoint +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5 cấu hình chốt dùng cho train_final_seeds.py, tất cả num_layers=2. Grid sweep đầy đủ nằm trong results/popaware_sweep_20260715_155058.csv (24 điểm).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số liệu: results/popaware_final_meanstd_20260715_174317.csv (PopAware, 3 seed) và results/metrics/main_results.csv (LightGCN baseline 1 run, dùng làm tham chiếu ban đầu).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Toạ độ lấy trực tiếp từ results/metrics/main_results.csv (MostPopular, BPR-MF, LightGCN) và results/popaware_final_meanstd_20260715_174317.csv (PopAware, mean 3 seed) — không phải minh hoạ định tính.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BPR-MF (baseline mạnh, khá fair tự nhiên): BEST vẫn hơn về Recall, TailRecall (x2.4), ARP; chỉ thua Coverage; cấu hình fairness áp đảo BPR-MF trên toàn bộ trục fairness.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PHƯƠNG PHÁP ĐỀ XUẤT</a:t>
            </a:r>
          </a:p>
          <a:p>
            <a:r>
              <a:rPr sz="2600" b="1" i="0">
                <a:solidFill>
                  <a:srgbClr val="1F4E79"/>
                </a:solidFill>
                <a:latin typeface="Calibri"/>
              </a:rPr>
              <a:t>Popularity-Aware LightGCN — Kiến trúc tổng quan</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png"/>
          <p:cNvPicPr>
            <a:picLocks noChangeAspect="1"/>
          </p:cNvPicPr>
          <p:nvPr/>
        </p:nvPicPr>
        <p:blipFill>
          <a:blip r:embed="rId2"/>
          <a:stretch>
            <a:fillRect/>
          </a:stretch>
        </p:blipFill>
        <p:spPr>
          <a:xfrm>
            <a:off x="2358109" y="1280160"/>
            <a:ext cx="7475476" cy="4892040"/>
          </a:xfrm>
          <a:prstGeom prst="rect">
            <a:avLst/>
          </a:prstGeom>
        </p:spPr>
      </p:pic>
      <p:sp>
        <p:nvSpPr>
          <p:cNvPr id="5" name="TextBox 4"/>
          <p:cNvSpPr txBox="1"/>
          <p:nvPr/>
        </p:nvSpPr>
        <p:spPr>
          <a:xfrm>
            <a:off x="640080" y="6263640"/>
            <a:ext cx="10881360" cy="320040"/>
          </a:xfrm>
          <a:prstGeom prst="rect">
            <a:avLst/>
          </a:prstGeom>
          <a:noFill/>
        </p:spPr>
        <p:txBody>
          <a:bodyPr wrap="square">
            <a:spAutoFit/>
          </a:bodyPr>
          <a:lstStyle/>
          <a:p>
            <a:pPr>
              <a:spcAft>
                <a:spcPts val="0"/>
              </a:spcAft>
            </a:pPr>
            <a:r>
              <a:rPr sz="1250" b="1" i="0">
                <a:solidFill>
                  <a:srgbClr val="1F4E79"/>
                </a:solidFill>
                <a:latin typeface="Calibri"/>
              </a:rPr>
              <a:t>— Thiết kế:</a:t>
            </a:r>
            <a:r>
              <a:rPr sz="1250" b="0" i="0">
                <a:solidFill>
                  <a:srgbClr val="333333"/>
                </a:solidFill>
                <a:latin typeface="Calibri"/>
              </a:rPr>
              <a:t> 4 thành phần độc lập về cơ chế (hàm mục tiêu / cấu trúc đồ thị / không gian embedding / tín hiệu đối nghịch) — không phải cộng dồn nhiều regularizer.</a:t>
            </a:r>
          </a:p>
        </p:txBody>
      </p:sp>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5</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THÀNH PHẦN 1 / 4</a:t>
            </a:r>
          </a:p>
          <a:p>
            <a:r>
              <a:rPr sz="2600" b="1" i="0">
                <a:solidFill>
                  <a:srgbClr val="1F4E79"/>
                </a:solidFill>
                <a:latin typeface="Calibri"/>
              </a:rPr>
              <a:t>Item Loss Equalization (ILE)</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2743200" cy="274320"/>
          </a:xfrm>
          <a:prstGeom prst="rect">
            <a:avLst/>
          </a:prstGeom>
          <a:noFill/>
        </p:spPr>
        <p:txBody>
          <a:bodyPr wrap="none">
            <a:spAutoFit/>
          </a:bodyPr>
          <a:lstStyle/>
          <a:p>
            <a:r>
              <a:rPr sz="1350" b="1" i="0">
                <a:solidFill>
                  <a:srgbClr val="2E74B5"/>
                </a:solidFill>
                <a:latin typeface="Calibri"/>
              </a:rPr>
              <a:t>BPR loss từng cặp:</a:t>
            </a:r>
          </a:p>
        </p:txBody>
      </p:sp>
      <p:pic>
        <p:nvPicPr>
          <p:cNvPr id="5" name="Picture 4" descr="eq6_1.png"/>
          <p:cNvPicPr>
            <a:picLocks noChangeAspect="1"/>
          </p:cNvPicPr>
          <p:nvPr/>
        </p:nvPicPr>
        <p:blipFill>
          <a:blip r:embed="rId2"/>
          <a:stretch>
            <a:fillRect/>
          </a:stretch>
        </p:blipFill>
        <p:spPr>
          <a:xfrm>
            <a:off x="2209647" y="1737360"/>
            <a:ext cx="7772400" cy="661288"/>
          </a:xfrm>
          <a:prstGeom prst="rect">
            <a:avLst/>
          </a:prstGeom>
        </p:spPr>
      </p:pic>
      <p:sp>
        <p:nvSpPr>
          <p:cNvPr id="6" name="TextBox 5"/>
          <p:cNvSpPr txBox="1"/>
          <p:nvPr/>
        </p:nvSpPr>
        <p:spPr>
          <a:xfrm>
            <a:off x="640080" y="2697480"/>
            <a:ext cx="5486400" cy="274320"/>
          </a:xfrm>
          <a:prstGeom prst="rect">
            <a:avLst/>
          </a:prstGeom>
          <a:noFill/>
        </p:spPr>
        <p:txBody>
          <a:bodyPr wrap="none">
            <a:spAutoFit/>
          </a:bodyPr>
          <a:lstStyle/>
          <a:p>
            <a:r>
              <a:rPr sz="1350" b="1" i="0">
                <a:solidFill>
                  <a:srgbClr val="2E74B5"/>
                </a:solidFill>
                <a:latin typeface="Calibri"/>
              </a:rPr>
              <a:t>Item Loss Equalization penalty:</a:t>
            </a:r>
          </a:p>
        </p:txBody>
      </p:sp>
      <p:pic>
        <p:nvPicPr>
          <p:cNvPr id="7" name="Picture 6" descr="eq6_2.png"/>
          <p:cNvPicPr>
            <a:picLocks noChangeAspect="1"/>
          </p:cNvPicPr>
          <p:nvPr/>
        </p:nvPicPr>
        <p:blipFill>
          <a:blip r:embed="rId3"/>
          <a:stretch>
            <a:fillRect/>
          </a:stretch>
        </p:blipFill>
        <p:spPr>
          <a:xfrm>
            <a:off x="3437153" y="3017520"/>
            <a:ext cx="5317387" cy="914400"/>
          </a:xfrm>
          <a:prstGeom prst="rect">
            <a:avLst/>
          </a:prstGeom>
        </p:spPr>
      </p:pic>
      <p:sp>
        <p:nvSpPr>
          <p:cNvPr id="8" name="TextBox 7"/>
          <p:cNvSpPr txBox="1"/>
          <p:nvPr/>
        </p:nvSpPr>
        <p:spPr>
          <a:xfrm>
            <a:off x="640080" y="4160520"/>
            <a:ext cx="10881360" cy="2011680"/>
          </a:xfrm>
          <a:prstGeom prst="rect">
            <a:avLst/>
          </a:prstGeom>
          <a:noFill/>
        </p:spPr>
        <p:txBody>
          <a:bodyPr wrap="square">
            <a:spAutoFit/>
          </a:bodyPr>
          <a:lstStyle/>
          <a:p>
            <a:pPr>
              <a:spcAft>
                <a:spcPts val="800"/>
              </a:spcAft>
            </a:pPr>
            <a:r>
              <a:rPr sz="1500" b="1" i="0">
                <a:solidFill>
                  <a:srgbClr val="1F4E79"/>
                </a:solidFill>
                <a:latin typeface="Calibri"/>
              </a:rPr>
              <a:t>— Nhóm popularity</a:t>
            </a:r>
            <a:r>
              <a:rPr sz="1500" b="0" i="0">
                <a:solidFill>
                  <a:srgbClr val="333333"/>
                </a:solidFill>
                <a:latin typeface="Calibri"/>
              </a:rPr>
              <a:t> theo percentile degree trên training graph: tail &lt;P50 · middle P50–P80 · head &gt;P80.</a:t>
            </a:r>
          </a:p>
          <a:p>
            <a:pPr>
              <a:spcAft>
                <a:spcPts val="800"/>
              </a:spcAft>
            </a:pPr>
            <a:r>
              <a:rPr sz="1500" b="1" i="0">
                <a:solidFill>
                  <a:srgbClr val="1F4E79"/>
                </a:solidFill>
                <a:latin typeface="Calibri"/>
              </a:rPr>
              <a:t>— Chỉ tính khi</a:t>
            </a:r>
            <a:r>
              <a:rPr sz="1500" b="0" i="0">
                <a:solidFill>
                  <a:srgbClr val="333333"/>
                </a:solidFill>
                <a:latin typeface="Calibri"/>
              </a:rPr>
              <a:t> batch có CẢ HAI nhóm head và tail (tránh chia cho nhóm rỗng).</a:t>
            </a:r>
          </a:p>
          <a:p>
            <a:pPr>
              <a:spcAft>
                <a:spcPts val="800"/>
              </a:spcAft>
            </a:pPr>
            <a:r>
              <a:rPr sz="1500" b="1" i="0">
                <a:solidFill>
                  <a:srgbClr val="1F4E79"/>
                </a:solidFill>
                <a:latin typeface="Calibri"/>
              </a:rPr>
              <a:t>— Bình phương →</a:t>
            </a:r>
            <a:r>
              <a:rPr sz="1500" b="0" i="0">
                <a:solidFill>
                  <a:srgbClr val="333333"/>
                </a:solidFill>
                <a:latin typeface="Calibri"/>
              </a:rPr>
              <a:t> luôn ≥ 0, không lật dấu → tối thiểu hoá kéo loss(tail) xuống gần loss(head).</a:t>
            </a:r>
          </a:p>
          <a:p>
            <a:pPr>
              <a:spcAft>
                <a:spcPts val="800"/>
              </a:spcAft>
            </a:pPr>
            <a:r>
              <a:rPr sz="1500" b="1" i="0">
                <a:solidFill>
                  <a:srgbClr val="1F4E79"/>
                </a:solidFill>
                <a:latin typeface="Calibri"/>
              </a:rPr>
              <a:t>— Kết quả:</a:t>
            </a:r>
            <a:r>
              <a:rPr sz="1500" b="0" i="0">
                <a:solidFill>
                  <a:srgbClr val="333333"/>
                </a:solidFill>
                <a:latin typeface="Calibri"/>
              </a:rPr>
              <a:t> chấp nhận đánh đổi nhẹ ở head để giảm popularity bias có chủ đích.</a:t>
            </a:r>
          </a:p>
        </p:txBody>
      </p:sp>
      <p:sp>
        <p:nvSpPr>
          <p:cNvPr id="9" name="TextBox 8"/>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6</a:t>
            </a:r>
          </a:p>
        </p:txBody>
      </p:sp>
      <p:sp>
        <p:nvSpPr>
          <p:cNvPr id="10" name="TextBox 9"/>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THÀNH PHẦN 2 &amp; 3 / 4</a:t>
            </a:r>
          </a:p>
          <a:p>
            <a:r>
              <a:rPr sz="2600" b="1" i="0">
                <a:solidFill>
                  <a:srgbClr val="1F4E79"/>
                </a:solidFill>
                <a:latin typeface="Calibri"/>
              </a:rPr>
              <a:t>Degree-Aware Graph Augmentation + Contrastive Learning</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5486400" cy="274320"/>
          </a:xfrm>
          <a:prstGeom prst="rect">
            <a:avLst/>
          </a:prstGeom>
          <a:noFill/>
        </p:spPr>
        <p:txBody>
          <a:bodyPr wrap="none">
            <a:spAutoFit/>
          </a:bodyPr>
          <a:lstStyle/>
          <a:p>
            <a:r>
              <a:rPr sz="1350" b="1" i="0">
                <a:solidFill>
                  <a:srgbClr val="2E74B5"/>
                </a:solidFill>
                <a:latin typeface="Calibri"/>
              </a:rPr>
              <a:t>Xác suất drop cạnh (log-scale theo degree):</a:t>
            </a:r>
          </a:p>
        </p:txBody>
      </p:sp>
      <p:pic>
        <p:nvPicPr>
          <p:cNvPr id="5" name="Picture 4" descr="eq7_1.png"/>
          <p:cNvPicPr>
            <a:picLocks noChangeAspect="1"/>
          </p:cNvPicPr>
          <p:nvPr/>
        </p:nvPicPr>
        <p:blipFill>
          <a:blip r:embed="rId2"/>
          <a:stretch>
            <a:fillRect/>
          </a:stretch>
        </p:blipFill>
        <p:spPr>
          <a:xfrm>
            <a:off x="2362319" y="1737360"/>
            <a:ext cx="7467055" cy="777240"/>
          </a:xfrm>
          <a:prstGeom prst="rect">
            <a:avLst/>
          </a:prstGeom>
        </p:spPr>
      </p:pic>
      <p:sp>
        <p:nvSpPr>
          <p:cNvPr id="6" name="TextBox 5"/>
          <p:cNvSpPr txBox="1"/>
          <p:nvPr/>
        </p:nvSpPr>
        <p:spPr>
          <a:xfrm>
            <a:off x="640080" y="2788920"/>
            <a:ext cx="5486400" cy="274320"/>
          </a:xfrm>
          <a:prstGeom prst="rect">
            <a:avLst/>
          </a:prstGeom>
          <a:noFill/>
        </p:spPr>
        <p:txBody>
          <a:bodyPr wrap="none">
            <a:spAutoFit/>
          </a:bodyPr>
          <a:lstStyle/>
          <a:p>
            <a:r>
              <a:rPr sz="1350" b="1" i="0">
                <a:solidFill>
                  <a:srgbClr val="2E74B5"/>
                </a:solidFill>
                <a:latin typeface="Calibri"/>
              </a:rPr>
              <a:t>InfoNCE contrastive loss (2 view augment, cùng encoder):</a:t>
            </a:r>
          </a:p>
        </p:txBody>
      </p:sp>
      <p:pic>
        <p:nvPicPr>
          <p:cNvPr id="7" name="Picture 6" descr="eq7_2.png"/>
          <p:cNvPicPr>
            <a:picLocks noChangeAspect="1"/>
          </p:cNvPicPr>
          <p:nvPr/>
        </p:nvPicPr>
        <p:blipFill>
          <a:blip r:embed="rId3"/>
          <a:stretch>
            <a:fillRect/>
          </a:stretch>
        </p:blipFill>
        <p:spPr>
          <a:xfrm>
            <a:off x="3482612" y="3108960"/>
            <a:ext cx="5226469" cy="914400"/>
          </a:xfrm>
          <a:prstGeom prst="rect">
            <a:avLst/>
          </a:prstGeom>
        </p:spPr>
      </p:pic>
      <p:sp>
        <p:nvSpPr>
          <p:cNvPr id="8" name="TextBox 7"/>
          <p:cNvSpPr txBox="1"/>
          <p:nvPr/>
        </p:nvSpPr>
        <p:spPr>
          <a:xfrm>
            <a:off x="640080" y="4251960"/>
            <a:ext cx="10881360" cy="1920240"/>
          </a:xfrm>
          <a:prstGeom prst="rect">
            <a:avLst/>
          </a:prstGeom>
          <a:noFill/>
        </p:spPr>
        <p:txBody>
          <a:bodyPr wrap="square">
            <a:spAutoFit/>
          </a:bodyPr>
          <a:lstStyle/>
          <a:p>
            <a:pPr>
              <a:spcAft>
                <a:spcPts val="800"/>
              </a:spcAft>
            </a:pPr>
            <a:r>
              <a:rPr sz="1500" b="1" i="0">
                <a:solidFill>
                  <a:srgbClr val="1F4E79"/>
                </a:solidFill>
                <a:latin typeface="Calibri"/>
              </a:rPr>
              <a:t>— Dropout đối xứng:</a:t>
            </a:r>
            <a:r>
              <a:rPr sz="1500" b="0" i="0">
                <a:solidFill>
                  <a:srgbClr val="333333"/>
                </a:solidFill>
                <a:latin typeface="Calibri"/>
              </a:rPr>
              <a:t> quyết định giữ/drop 1 lần trên mỗi cạnh vô hướng user–item, mirror cả 2 chiều.</a:t>
            </a:r>
          </a:p>
          <a:p>
            <a:pPr>
              <a:spcAft>
                <a:spcPts val="800"/>
              </a:spcAft>
            </a:pPr>
            <a:r>
              <a:rPr sz="1500" b="1" i="0">
                <a:solidFill>
                  <a:srgbClr val="1F4E79"/>
                </a:solidFill>
                <a:latin typeface="Calibri"/>
              </a:rPr>
              <a:t>— InfoNCE:</a:t>
            </a:r>
            <a:r>
              <a:rPr sz="1500" b="0" i="0">
                <a:solidFill>
                  <a:srgbClr val="333333"/>
                </a:solidFill>
                <a:latin typeface="Calibri"/>
              </a:rPr>
              <a:t> kéo embedding cùng user/item giữa 2 view lại gần, đẩy xa các user/item khác trong batch.</a:t>
            </a:r>
          </a:p>
          <a:p>
            <a:pPr>
              <a:spcAft>
                <a:spcPts val="800"/>
              </a:spcAft>
            </a:pPr>
            <a:r>
              <a:rPr sz="1500" b="1" i="0">
                <a:solidFill>
                  <a:srgbClr val="1F4E79"/>
                </a:solidFill>
                <a:latin typeface="Calibri"/>
              </a:rPr>
              <a:t>— τ, λ_CL</a:t>
            </a:r>
            <a:r>
              <a:rPr sz="1500" b="0" i="0">
                <a:solidFill>
                  <a:srgbClr val="333333"/>
                </a:solidFill>
                <a:latin typeface="Calibri"/>
              </a:rPr>
              <a:t> kiểm soát độ “cứng” của lực kéo/đẩy.</a:t>
            </a:r>
          </a:p>
          <a:p>
            <a:pPr>
              <a:spcAft>
                <a:spcPts val="800"/>
              </a:spcAft>
            </a:pPr>
            <a:r>
              <a:rPr sz="1500" b="1" i="0">
                <a:solidFill>
                  <a:srgbClr val="1F4E79"/>
                </a:solidFill>
                <a:latin typeface="Calibri"/>
              </a:rPr>
              <a:t>— Bằng chứng cơ chế đúng:</a:t>
            </a:r>
            <a:r>
              <a:rPr sz="1500" b="0" i="0">
                <a:solidFill>
                  <a:srgbClr val="333333"/>
                </a:solidFill>
                <a:latin typeface="Calibri"/>
              </a:rPr>
              <a:t> tăng λ_CL trong sweep kéo Coverage@20 tăng đơn điệu.</a:t>
            </a:r>
          </a:p>
        </p:txBody>
      </p:sp>
      <p:sp>
        <p:nvSpPr>
          <p:cNvPr id="9" name="TextBox 8"/>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7</a:t>
            </a:r>
          </a:p>
        </p:txBody>
      </p:sp>
      <p:sp>
        <p:nvSpPr>
          <p:cNvPr id="10" name="TextBox 9"/>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THÀNH PHẦN 4 / 4</a:t>
            </a:r>
          </a:p>
          <a:p>
            <a:r>
              <a:rPr sz="2600" b="1" i="0">
                <a:solidFill>
                  <a:srgbClr val="1F4E79"/>
                </a:solidFill>
                <a:latin typeface="Calibri"/>
              </a:rPr>
              <a:t>Popularity-Aware Negative Sampling</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8_1.png"/>
          <p:cNvPicPr>
            <a:picLocks noChangeAspect="1"/>
          </p:cNvPicPr>
          <p:nvPr/>
        </p:nvPicPr>
        <p:blipFill>
          <a:blip r:embed="rId2"/>
          <a:stretch>
            <a:fillRect/>
          </a:stretch>
        </p:blipFill>
        <p:spPr>
          <a:xfrm>
            <a:off x="1523847" y="1920240"/>
            <a:ext cx="9144000" cy="813359"/>
          </a:xfrm>
          <a:prstGeom prst="rect">
            <a:avLst/>
          </a:prstGeom>
        </p:spPr>
      </p:pic>
      <p:sp>
        <p:nvSpPr>
          <p:cNvPr id="5" name="TextBox 4"/>
          <p:cNvSpPr txBox="1"/>
          <p:nvPr/>
        </p:nvSpPr>
        <p:spPr>
          <a:xfrm>
            <a:off x="640080" y="3291840"/>
            <a:ext cx="10881360" cy="2194560"/>
          </a:xfrm>
          <a:prstGeom prst="rect">
            <a:avLst/>
          </a:prstGeom>
          <a:noFill/>
        </p:spPr>
        <p:txBody>
          <a:bodyPr wrap="square">
            <a:spAutoFit/>
          </a:bodyPr>
          <a:lstStyle/>
          <a:p>
            <a:pPr>
              <a:spcAft>
                <a:spcPts val="1200"/>
              </a:spcAft>
            </a:pPr>
            <a:r>
              <a:rPr sz="1650" b="1" i="0">
                <a:solidFill>
                  <a:srgbClr val="1F4E79"/>
                </a:solidFill>
                <a:latin typeface="Calibri"/>
              </a:rPr>
              <a:t>— Positive</a:t>
            </a:r>
            <a:r>
              <a:rPr sz="1650" b="0" i="0">
                <a:solidFill>
                  <a:srgbClr val="333333"/>
                </a:solidFill>
                <a:latin typeface="Calibri"/>
              </a:rPr>
              <a:t> vẫn lấy uniform từ train edges — chỉ thay đổi cách chọn negative.</a:t>
            </a:r>
          </a:p>
          <a:p>
            <a:pPr>
              <a:spcAft>
                <a:spcPts val="1200"/>
              </a:spcAft>
            </a:pPr>
            <a:r>
              <a:rPr sz="1650" b="1" i="0">
                <a:solidFill>
                  <a:srgbClr val="1F4E79"/>
                </a:solidFill>
                <a:latin typeface="Calibri"/>
              </a:rPr>
              <a:t>— β lớn hơn</a:t>
            </a:r>
            <a:r>
              <a:rPr sz="1650" b="0" i="0">
                <a:solidFill>
                  <a:srgbClr val="333333"/>
                </a:solidFill>
                <a:latin typeface="Calibri"/>
              </a:rPr>
              <a:t> → phạt item phổ biến mạnh hơn khi làm negative (thực nghiệm β ∈ {0, 0.5}).</a:t>
            </a:r>
          </a:p>
          <a:p>
            <a:pPr>
              <a:spcAft>
                <a:spcPts val="1200"/>
              </a:spcAft>
            </a:pPr>
            <a:r>
              <a:rPr sz="1650" b="1" i="0">
                <a:solidFill>
                  <a:srgbClr val="1F4E79"/>
                </a:solidFill>
                <a:latin typeface="Calibri"/>
              </a:rPr>
              <a:t>— Rejection sampling</a:t>
            </a:r>
            <a:r>
              <a:rPr sz="1650" b="0" i="0">
                <a:solidFill>
                  <a:srgbClr val="333333"/>
                </a:solidFill>
                <a:latin typeface="Calibri"/>
              </a:rPr>
              <a:t> (tối đa 20 lần thử lại): đảm bảo negative không trùng positive của user.</a:t>
            </a:r>
          </a:p>
          <a:p>
            <a:pPr>
              <a:spcAft>
                <a:spcPts val="1200"/>
              </a:spcAft>
            </a:pPr>
            <a:r>
              <a:rPr sz="1650" b="1" i="0">
                <a:solidFill>
                  <a:srgbClr val="1F4E79"/>
                </a:solidFill>
                <a:latin typeface="Calibri"/>
              </a:rPr>
              <a:t>— Bằng chứng cơ chế đúng:</a:t>
            </a:r>
            <a:r>
              <a:rPr sz="1650" b="0" i="0">
                <a:solidFill>
                  <a:srgbClr val="333333"/>
                </a:solidFill>
                <a:latin typeface="Calibri"/>
              </a:rPr>
              <a:t> tăng λ_ILE trong sweep kéo TailRecall@20 tăng đơn điệu (0.014 → 0.032 → 0.040).</a:t>
            </a:r>
          </a:p>
        </p:txBody>
      </p:sp>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8</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HUẤN LUYỆN</a:t>
            </a:r>
          </a:p>
          <a:p>
            <a:r>
              <a:rPr sz="2600" b="1" i="0">
                <a:solidFill>
                  <a:srgbClr val="1F4E79"/>
                </a:solidFill>
                <a:latin typeface="Calibri"/>
              </a:rPr>
              <a:t>Hàm mục tiêu tổng hợp &amp; Quy trình chống rò rỉ dữ liệu</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9_1.png"/>
          <p:cNvPicPr>
            <a:picLocks noChangeAspect="1"/>
          </p:cNvPicPr>
          <p:nvPr/>
        </p:nvPicPr>
        <p:blipFill>
          <a:blip r:embed="rId2"/>
          <a:stretch>
            <a:fillRect/>
          </a:stretch>
        </p:blipFill>
        <p:spPr>
          <a:xfrm>
            <a:off x="1066647" y="1554480"/>
            <a:ext cx="10058400" cy="757409"/>
          </a:xfrm>
          <a:prstGeom prst="rect">
            <a:avLst/>
          </a:prstGeom>
        </p:spPr>
      </p:pic>
      <p:sp>
        <p:nvSpPr>
          <p:cNvPr id="5" name="Rounded Rectangle 4"/>
          <p:cNvSpPr/>
          <p:nvPr/>
        </p:nvSpPr>
        <p:spPr>
          <a:xfrm>
            <a:off x="640080" y="2788920"/>
            <a:ext cx="5257800" cy="457200"/>
          </a:xfrm>
          <a:prstGeom prst="roundRect">
            <a:avLst/>
          </a:prstGeom>
          <a:solidFill>
            <a:srgbClr val="EAF1F9"/>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00" b="1" i="0">
                <a:solidFill>
                  <a:srgbClr val="1F4E79"/>
                </a:solidFill>
                <a:latin typeface="Calibri"/>
              </a:rPr>
              <a:t>Chống rò rỉ dữ liệu (leakage-free)</a:t>
            </a:r>
          </a:p>
        </p:txBody>
      </p:sp>
      <p:sp>
        <p:nvSpPr>
          <p:cNvPr id="6" name="TextBox 5"/>
          <p:cNvSpPr txBox="1"/>
          <p:nvPr/>
        </p:nvSpPr>
        <p:spPr>
          <a:xfrm>
            <a:off x="640080" y="3383280"/>
            <a:ext cx="5257800" cy="2011680"/>
          </a:xfrm>
          <a:prstGeom prst="rect">
            <a:avLst/>
          </a:prstGeom>
          <a:noFill/>
        </p:spPr>
        <p:txBody>
          <a:bodyPr wrap="square">
            <a:spAutoFit/>
          </a:bodyPr>
          <a:lstStyle/>
          <a:p>
            <a:pPr>
              <a:spcAft>
                <a:spcPts val="1000"/>
              </a:spcAft>
            </a:pPr>
            <a:r>
              <a:rPr sz="1450" b="0" i="0">
                <a:solidFill>
                  <a:srgbClr val="333333"/>
                </a:solidFill>
                <a:latin typeface="Calibri"/>
              </a:rPr>
              <a:t>— Đồ thị lan truyền chỉ dùng TRAIN edges.</a:t>
            </a:r>
          </a:p>
          <a:p>
            <a:pPr>
              <a:spcAft>
                <a:spcPts val="1000"/>
              </a:spcAft>
            </a:pPr>
            <a:r>
              <a:rPr sz="1450" b="0" i="0">
                <a:solidFill>
                  <a:srgbClr val="333333"/>
                </a:solidFill>
                <a:latin typeface="Calibri"/>
              </a:rPr>
              <a:t>— Chọn model (early-stop, best ckpt) chỉ dựa trên VAL Recall@K.</a:t>
            </a:r>
          </a:p>
          <a:p>
            <a:pPr>
              <a:spcAft>
                <a:spcPts val="1000"/>
              </a:spcAft>
            </a:pPr>
            <a:r>
              <a:rPr sz="1450" b="0" i="0">
                <a:solidFill>
                  <a:srgbClr val="333333"/>
                </a:solidFill>
                <a:latin typeface="Calibri"/>
              </a:rPr>
              <a:t>— TEST chỉ được chấm đúng 1 lần, ở cuối cùng.</a:t>
            </a:r>
          </a:p>
        </p:txBody>
      </p:sp>
      <p:sp>
        <p:nvSpPr>
          <p:cNvPr id="7" name="Rounded Rectangle 6"/>
          <p:cNvSpPr/>
          <p:nvPr/>
        </p:nvSpPr>
        <p:spPr>
          <a:xfrm>
            <a:off x="6263640" y="2788920"/>
            <a:ext cx="5257800" cy="457200"/>
          </a:xfrm>
          <a:prstGeom prst="roundRect">
            <a:avLst/>
          </a:prstGeom>
          <a:solidFill>
            <a:srgbClr val="E6F4EA"/>
          </a:solidFill>
          <a:ln w="15875">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00" b="1" i="0">
                <a:solidFill>
                  <a:srgbClr val="1E7B34"/>
                </a:solidFill>
                <a:latin typeface="Calibri"/>
              </a:rPr>
              <a:t>Hạ tầng huấn luyện (tái lập được)</a:t>
            </a:r>
          </a:p>
        </p:txBody>
      </p:sp>
      <p:sp>
        <p:nvSpPr>
          <p:cNvPr id="8" name="TextBox 7"/>
          <p:cNvSpPr txBox="1"/>
          <p:nvPr/>
        </p:nvSpPr>
        <p:spPr>
          <a:xfrm>
            <a:off x="6263640" y="3383280"/>
            <a:ext cx="5257800" cy="2011680"/>
          </a:xfrm>
          <a:prstGeom prst="rect">
            <a:avLst/>
          </a:prstGeom>
          <a:noFill/>
        </p:spPr>
        <p:txBody>
          <a:bodyPr wrap="square">
            <a:spAutoFit/>
          </a:bodyPr>
          <a:lstStyle/>
          <a:p>
            <a:pPr>
              <a:spcAft>
                <a:spcPts val="1000"/>
              </a:spcAft>
            </a:pPr>
            <a:r>
              <a:rPr sz="1450" b="0" i="0">
                <a:solidFill>
                  <a:srgbClr val="333333"/>
                </a:solidFill>
                <a:latin typeface="Calibri"/>
              </a:rPr>
              <a:t>— Checkpoint: &lt;run_id&gt;_latest.pt (resume) + _best.pt (theo VAL).</a:t>
            </a:r>
          </a:p>
          <a:p>
            <a:pPr>
              <a:spcAft>
                <a:spcPts val="1000"/>
              </a:spcAft>
            </a:pPr>
            <a:r>
              <a:rPr sz="1450" b="0" i="0">
                <a:solidFill>
                  <a:srgbClr val="333333"/>
                </a:solidFill>
                <a:latin typeface="Calibri"/>
              </a:rPr>
              <a:t>— Tự động resume nếu bị gián đoạn.</a:t>
            </a:r>
          </a:p>
          <a:p>
            <a:pPr>
              <a:spcAft>
                <a:spcPts val="1000"/>
              </a:spcAft>
            </a:pPr>
            <a:r>
              <a:rPr sz="1450" b="0" i="0">
                <a:solidFill>
                  <a:srgbClr val="333333"/>
                </a:solidFill>
                <a:latin typeface="Calibri"/>
              </a:rPr>
              <a:t>— Log đầy đủ mỗi epoch (stdout + file) + history CSV (loss curve).</a:t>
            </a:r>
          </a:p>
        </p:txBody>
      </p:sp>
      <p:sp>
        <p:nvSpPr>
          <p:cNvPr id="9" name="TextBox 8"/>
          <p:cNvSpPr txBox="1"/>
          <p:nvPr/>
        </p:nvSpPr>
        <p:spPr>
          <a:xfrm>
            <a:off x="640080" y="5806440"/>
            <a:ext cx="10881360" cy="640080"/>
          </a:xfrm>
          <a:prstGeom prst="rect">
            <a:avLst/>
          </a:prstGeom>
          <a:noFill/>
        </p:spPr>
        <p:txBody>
          <a:bodyPr wrap="square">
            <a:spAutoFit/>
          </a:bodyPr>
          <a:lstStyle/>
          <a:p>
            <a:pPr>
              <a:spcAft>
                <a:spcPts val="600"/>
              </a:spcAft>
            </a:pPr>
            <a:r>
              <a:rPr sz="1450" b="1" i="0">
                <a:solidFill>
                  <a:srgbClr val="1F4E79"/>
                </a:solidFill>
                <a:latin typeface="Calibri"/>
              </a:rPr>
              <a:t>— 4 thành phần</a:t>
            </a:r>
            <a:r>
              <a:rPr sz="1450" b="0" i="0">
                <a:solidFill>
                  <a:srgbClr val="333333"/>
                </a:solidFill>
                <a:latin typeface="Calibri"/>
              </a:rPr>
              <a:t> bật/tắt độc lập (use_ile, aug_main, use_cl, neg_pop_beta) → ablation chính xác từng phần.</a:t>
            </a:r>
          </a:p>
        </p:txBody>
      </p:sp>
      <p:sp>
        <p:nvSpPr>
          <p:cNvPr id="10" name="TextBox 9"/>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9</a:t>
            </a:r>
          </a:p>
        </p:txBody>
      </p:sp>
      <p:sp>
        <p:nvSpPr>
          <p:cNvPr id="11" name="TextBox 10"/>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THỰC NGHIỆM</a:t>
            </a:r>
          </a:p>
          <a:p>
            <a:r>
              <a:rPr sz="2600" b="1" i="0">
                <a:solidFill>
                  <a:srgbClr val="1F4E79"/>
                </a:solidFill>
                <a:latin typeface="Calibri"/>
              </a:rPr>
              <a:t>Thiết lập thực nghiệm</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881360" cy="1737360"/>
          </a:xfrm>
          <a:prstGeom prst="rect">
            <a:avLst/>
          </a:prstGeom>
          <a:noFill/>
        </p:spPr>
        <p:txBody>
          <a:bodyPr wrap="square">
            <a:spAutoFit/>
          </a:bodyPr>
          <a:lstStyle/>
          <a:p>
            <a:pPr>
              <a:spcAft>
                <a:spcPts val="800"/>
              </a:spcAft>
            </a:pPr>
            <a:r>
              <a:rPr sz="1550" b="1" i="0">
                <a:solidFill>
                  <a:srgbClr val="1F4E79"/>
                </a:solidFill>
                <a:latin typeface="Calibri"/>
              </a:rPr>
              <a:t>— Dataset:</a:t>
            </a:r>
            <a:r>
              <a:rPr sz="1550" b="0" i="0">
                <a:solidFill>
                  <a:srgbClr val="333333"/>
                </a:solidFill>
                <a:latin typeface="Calibri"/>
              </a:rPr>
              <a:t> MovieLens-1M, rating ≥ 4 = positive, leave-one-out val/test theo user.</a:t>
            </a:r>
          </a:p>
          <a:p>
            <a:pPr>
              <a:spcAft>
                <a:spcPts val="800"/>
              </a:spcAft>
            </a:pPr>
            <a:r>
              <a:rPr sz="1550" b="1" i="0">
                <a:solidFill>
                  <a:srgbClr val="1F4E79"/>
                </a:solidFill>
                <a:latin typeface="Calibri"/>
              </a:rPr>
              <a:t>— Backbone:</a:t>
            </a:r>
            <a:r>
              <a:rPr sz="1550" b="0" i="0">
                <a:solidFill>
                  <a:srgbClr val="333333"/>
                </a:solidFill>
                <a:latin typeface="Calibri"/>
              </a:rPr>
              <a:t> embedding_dim = 64, num_layers = 2 (điểm vận hành chính).</a:t>
            </a:r>
          </a:p>
          <a:p>
            <a:pPr>
              <a:spcAft>
                <a:spcPts val="800"/>
              </a:spcAft>
            </a:pPr>
            <a:r>
              <a:rPr sz="1550" b="1" i="0">
                <a:solidFill>
                  <a:srgbClr val="1F4E79"/>
                </a:solidFill>
                <a:latin typeface="Calibri"/>
              </a:rPr>
              <a:t>— Sweep:</a:t>
            </a:r>
            <a:r>
              <a:rPr sz="1550" b="0" i="0">
                <a:solidFill>
                  <a:srgbClr val="333333"/>
                </a:solidFill>
                <a:latin typeface="Calibri"/>
              </a:rPr>
              <a:t> 24 điểm = num_layers{2,3} × λ_ILE{0.1,0.5,1.0} × λ_CL{0.1,0.5} × β{0,0.5}.</a:t>
            </a:r>
          </a:p>
          <a:p>
            <a:pPr>
              <a:spcAft>
                <a:spcPts val="800"/>
              </a:spcAft>
            </a:pPr>
            <a:r>
              <a:rPr sz="1550" b="1" i="0">
                <a:solidFill>
                  <a:srgbClr val="1F4E79"/>
                </a:solidFill>
                <a:latin typeface="Calibri"/>
              </a:rPr>
              <a:t>— Độ tin cậy:</a:t>
            </a:r>
            <a:r>
              <a:rPr sz="1550" b="0" i="0">
                <a:solidFill>
                  <a:srgbClr val="333333"/>
                </a:solidFill>
                <a:latin typeface="Calibri"/>
              </a:rPr>
              <a:t> mỗi cấu hình chốt chạy 3 seed {42, 0, 1}, báo cáo mean ± std.</a:t>
            </a:r>
          </a:p>
        </p:txBody>
      </p:sp>
      <p:graphicFrame>
        <p:nvGraphicFramePr>
          <p:cNvPr id="5" name="Table 4"/>
          <p:cNvGraphicFramePr>
            <a:graphicFrameLocks noGrp="1"/>
          </p:cNvGraphicFramePr>
          <p:nvPr/>
        </p:nvGraphicFramePr>
        <p:xfrm>
          <a:off x="1737360" y="3291840"/>
          <a:ext cx="8686800" cy="2743200"/>
        </p:xfrm>
        <a:graphic>
          <a:graphicData uri="http://schemas.openxmlformats.org/drawingml/2006/table">
            <a:tbl>
              <a:tblPr firstRow="1" bandRow="1">
                <a:tableStyleId>{5C22544A-7EE6-4342-B048-85BDC9FD1C3A}</a:tableStyleId>
              </a:tblPr>
              <a:tblGrid>
                <a:gridCol w="3931920"/>
                <a:gridCol w="1554480"/>
                <a:gridCol w="1554480"/>
                <a:gridCol w="1645920"/>
              </a:tblGrid>
              <a:tr h="457200">
                <a:tc>
                  <a:txBody>
                    <a:bodyPr wrap="square"/>
                    <a:lstStyle/>
                    <a:p>
                      <a:pPr algn="ctr"/>
                      <a:r>
                        <a:rPr sz="1350" b="1" i="0">
                          <a:solidFill>
                            <a:srgbClr val="FFFFFF"/>
                          </a:solidFill>
                          <a:latin typeface="Calibri"/>
                        </a:rPr>
                        <a:t>Cấu hình (num_layers=2)</a:t>
                      </a:r>
                    </a:p>
                  </a:txBody>
                  <a:tcPr anchor="ctr" marT="38100" marB="38100" marL="76200" marR="76200">
                    <a:solidFill>
                      <a:srgbClr val="1F4E79"/>
                    </a:solidFill>
                  </a:tcPr>
                </a:tc>
                <a:tc>
                  <a:txBody>
                    <a:bodyPr wrap="square"/>
                    <a:lstStyle/>
                    <a:p>
                      <a:pPr algn="ctr"/>
                      <a:r>
                        <a:rPr sz="1350" b="1" i="0">
                          <a:solidFill>
                            <a:srgbClr val="FFFFFF"/>
                          </a:solidFill>
                          <a:latin typeface="Calibri"/>
                        </a:rPr>
                        <a:t>λ_ILE</a:t>
                      </a:r>
                    </a:p>
                  </a:txBody>
                  <a:tcPr anchor="ctr" marT="38100" marB="38100" marL="76200" marR="76200">
                    <a:solidFill>
                      <a:srgbClr val="1F4E79"/>
                    </a:solidFill>
                  </a:tcPr>
                </a:tc>
                <a:tc>
                  <a:txBody>
                    <a:bodyPr wrap="square"/>
                    <a:lstStyle/>
                    <a:p>
                      <a:pPr algn="ctr"/>
                      <a:r>
                        <a:rPr sz="1350" b="1" i="0">
                          <a:solidFill>
                            <a:srgbClr val="FFFFFF"/>
                          </a:solidFill>
                          <a:latin typeface="Calibri"/>
                        </a:rPr>
                        <a:t>λ_CL</a:t>
                      </a:r>
                    </a:p>
                  </a:txBody>
                  <a:tcPr anchor="ctr" marT="38100" marB="38100" marL="76200" marR="76200">
                    <a:solidFill>
                      <a:srgbClr val="1F4E79"/>
                    </a:solidFill>
                  </a:tcPr>
                </a:tc>
                <a:tc>
                  <a:txBody>
                    <a:bodyPr wrap="square"/>
                    <a:lstStyle/>
                    <a:p>
                      <a:pPr algn="ctr"/>
                      <a:r>
                        <a:rPr sz="1350" b="1" i="0">
                          <a:solidFill>
                            <a:srgbClr val="FFFFFF"/>
                          </a:solidFill>
                          <a:latin typeface="Calibri"/>
                        </a:rPr>
                        <a:t>β</a:t>
                      </a:r>
                    </a:p>
                  </a:txBody>
                  <a:tcPr anchor="ctr" marT="38100" marB="38100" marL="76200" marR="76200">
                    <a:solidFill>
                      <a:srgbClr val="1F4E79"/>
                    </a:solidFill>
                  </a:tcPr>
                </a:tc>
              </a:tr>
              <a:tr h="457200">
                <a:tc>
                  <a:txBody>
                    <a:bodyPr wrap="square"/>
                    <a:lstStyle/>
                    <a:p>
                      <a:pPr algn="l"/>
                      <a:r>
                        <a:rPr sz="1300" b="0" i="0">
                          <a:solidFill>
                            <a:srgbClr val="333333"/>
                          </a:solidFill>
                          <a:latin typeface="Calibri"/>
                        </a:rPr>
                        <a:t>LightGCN (baseline)</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r>
              <a:tr h="457200">
                <a:tc>
                  <a:txBody>
                    <a:bodyPr wrap="square"/>
                    <a:lstStyle/>
                    <a:p>
                      <a:pPr algn="l"/>
                      <a:r>
                        <a:rPr sz="1300" b="0" i="0">
                          <a:solidFill>
                            <a:srgbClr val="333333"/>
                          </a:solidFill>
                          <a:latin typeface="Calibri"/>
                        </a:rPr>
                        <a:t>PopAware-accuracy</a:t>
                      </a:r>
                    </a:p>
                  </a:txBody>
                  <a:tcPr anchor="ctr" marT="38100" marB="38100" marL="76200" marR="76200">
                    <a:solidFill>
                      <a:srgbClr val="F4F7FB"/>
                    </a:solidFill>
                  </a:tcPr>
                </a:tc>
                <a:tc>
                  <a:txBody>
                    <a:bodyPr wrap="square"/>
                    <a:lstStyle/>
                    <a:p>
                      <a:pPr algn="ctr"/>
                      <a:r>
                        <a:rPr sz="1300" b="0" i="0">
                          <a:solidFill>
                            <a:srgbClr val="333333"/>
                          </a:solidFill>
                          <a:latin typeface="Calibri"/>
                        </a:rPr>
                        <a:t>0.1</a:t>
                      </a:r>
                    </a:p>
                  </a:txBody>
                  <a:tcPr anchor="ctr" marT="38100" marB="38100" marL="76200" marR="76200">
                    <a:solidFill>
                      <a:srgbClr val="F4F7FB"/>
                    </a:solidFill>
                  </a:tcPr>
                </a:tc>
                <a:tc>
                  <a:txBody>
                    <a:bodyPr wrap="square"/>
                    <a:lstStyle/>
                    <a:p>
                      <a:pPr algn="ctr"/>
                      <a:r>
                        <a:rPr sz="1300" b="0" i="0">
                          <a:solidFill>
                            <a:srgbClr val="333333"/>
                          </a:solidFill>
                          <a:latin typeface="Calibri"/>
                        </a:rPr>
                        <a:t>0.1</a:t>
                      </a:r>
                    </a:p>
                  </a:txBody>
                  <a:tcPr anchor="ctr" marT="38100" marB="38100" marL="76200" marR="76200">
                    <a:solidFill>
                      <a:srgbClr val="F4F7FB"/>
                    </a:solidFill>
                  </a:tcPr>
                </a:tc>
                <a:tc>
                  <a:txBody>
                    <a:bodyPr wrap="square"/>
                    <a:lstStyle/>
                    <a:p>
                      <a:pPr algn="ctr"/>
                      <a:r>
                        <a:rPr sz="1300" b="0" i="0">
                          <a:solidFill>
                            <a:srgbClr val="333333"/>
                          </a:solidFill>
                          <a:latin typeface="Calibri"/>
                        </a:rPr>
                        <a:t>0.5</a:t>
                      </a:r>
                    </a:p>
                  </a:txBody>
                  <a:tcPr anchor="ctr" marT="38100" marB="38100" marL="76200" marR="76200">
                    <a:solidFill>
                      <a:srgbClr val="F4F7FB"/>
                    </a:solidFill>
                  </a:tcPr>
                </a:tc>
              </a:tr>
              <a:tr h="457200">
                <a:tc>
                  <a:txBody>
                    <a:bodyPr wrap="square"/>
                    <a:lstStyle/>
                    <a:p>
                      <a:pPr algn="l"/>
                      <a:r>
                        <a:rPr sz="1300" b="1" i="0">
                          <a:solidFill>
                            <a:srgbClr val="1F4E79"/>
                          </a:solidFill>
                          <a:latin typeface="Calibri"/>
                        </a:rPr>
                        <a:t>PopAware-BEST</a:t>
                      </a:r>
                    </a:p>
                  </a:txBody>
                  <a:tcPr anchor="ctr" marT="38100" marB="38100" marL="76200" marR="76200">
                    <a:solidFill>
                      <a:srgbClr val="DDEAF7"/>
                    </a:solidFill>
                  </a:tcPr>
                </a:tc>
                <a:tc>
                  <a:txBody>
                    <a:bodyPr wrap="square"/>
                    <a:lstStyle/>
                    <a:p>
                      <a:pPr algn="ctr"/>
                      <a:r>
                        <a:rPr sz="1300" b="1" i="0">
                          <a:solidFill>
                            <a:srgbClr val="1F4E79"/>
                          </a:solidFill>
                          <a:latin typeface="Calibri"/>
                        </a:rPr>
                        <a:t>1.0</a:t>
                      </a:r>
                    </a:p>
                  </a:txBody>
                  <a:tcPr anchor="ctr" marT="38100" marB="38100" marL="76200" marR="76200">
                    <a:solidFill>
                      <a:srgbClr val="DDEAF7"/>
                    </a:solidFill>
                  </a:tcPr>
                </a:tc>
                <a:tc>
                  <a:txBody>
                    <a:bodyPr wrap="square"/>
                    <a:lstStyle/>
                    <a:p>
                      <a:pPr algn="ctr"/>
                      <a:r>
                        <a:rPr sz="1300" b="1" i="0">
                          <a:solidFill>
                            <a:srgbClr val="1F4E79"/>
                          </a:solidFill>
                          <a:latin typeface="Calibri"/>
                        </a:rPr>
                        <a:t>0.1</a:t>
                      </a:r>
                    </a:p>
                  </a:txBody>
                  <a:tcPr anchor="ctr" marT="38100" marB="38100" marL="76200" marR="76200">
                    <a:solidFill>
                      <a:srgbClr val="DDEAF7"/>
                    </a:solidFill>
                  </a:tcPr>
                </a:tc>
                <a:tc>
                  <a:txBody>
                    <a:bodyPr wrap="square"/>
                    <a:lstStyle/>
                    <a:p>
                      <a:pPr algn="ctr"/>
                      <a:r>
                        <a:rPr sz="1300" b="1" i="0">
                          <a:solidFill>
                            <a:srgbClr val="1F4E79"/>
                          </a:solidFill>
                          <a:latin typeface="Calibri"/>
                        </a:rPr>
                        <a:t>0.5</a:t>
                      </a:r>
                    </a:p>
                  </a:txBody>
                  <a:tcPr anchor="ctr" marT="38100" marB="38100" marL="76200" marR="76200">
                    <a:solidFill>
                      <a:srgbClr val="DDEAF7"/>
                    </a:solidFill>
                  </a:tcPr>
                </a:tc>
              </a:tr>
              <a:tr h="457200">
                <a:tc>
                  <a:txBody>
                    <a:bodyPr wrap="square"/>
                    <a:lstStyle/>
                    <a:p>
                      <a:pPr algn="l"/>
                      <a:r>
                        <a:rPr sz="1300" b="0" i="0">
                          <a:solidFill>
                            <a:srgbClr val="333333"/>
                          </a:solidFill>
                          <a:latin typeface="Calibri"/>
                        </a:rPr>
                        <a:t>PopAware-high-tail</a:t>
                      </a:r>
                    </a:p>
                  </a:txBody>
                  <a:tcPr anchor="ctr" marT="38100" marB="38100" marL="76200" marR="76200">
                    <a:solidFill>
                      <a:srgbClr val="F4F7FB"/>
                    </a:solidFill>
                  </a:tcPr>
                </a:tc>
                <a:tc>
                  <a:txBody>
                    <a:bodyPr wrap="square"/>
                    <a:lstStyle/>
                    <a:p>
                      <a:pPr algn="ctr"/>
                      <a:r>
                        <a:rPr sz="1300" b="0" i="0">
                          <a:solidFill>
                            <a:srgbClr val="333333"/>
                          </a:solidFill>
                          <a:latin typeface="Calibri"/>
                        </a:rPr>
                        <a:t>1.0</a:t>
                      </a:r>
                    </a:p>
                  </a:txBody>
                  <a:tcPr anchor="ctr" marT="38100" marB="38100" marL="76200" marR="76200">
                    <a:solidFill>
                      <a:srgbClr val="F4F7FB"/>
                    </a:solidFill>
                  </a:tcPr>
                </a:tc>
                <a:tc>
                  <a:txBody>
                    <a:bodyPr wrap="square"/>
                    <a:lstStyle/>
                    <a:p>
                      <a:pPr algn="ctr"/>
                      <a:r>
                        <a:rPr sz="1300" b="0" i="0">
                          <a:solidFill>
                            <a:srgbClr val="333333"/>
                          </a:solidFill>
                          <a:latin typeface="Calibri"/>
                        </a:rPr>
                        <a:t>0.1</a:t>
                      </a:r>
                    </a:p>
                  </a:txBody>
                  <a:tcPr anchor="ctr" marT="38100" marB="38100" marL="76200" marR="76200">
                    <a:solidFill>
                      <a:srgbClr val="F4F7FB"/>
                    </a:solidFill>
                  </a:tcPr>
                </a:tc>
                <a:tc>
                  <a:txBody>
                    <a:bodyPr wrap="square"/>
                    <a:lstStyle/>
                    <a:p>
                      <a:pPr algn="ctr"/>
                      <a:r>
                        <a:rPr sz="1300" b="0" i="0">
                          <a:solidFill>
                            <a:srgbClr val="333333"/>
                          </a:solidFill>
                          <a:latin typeface="Calibri"/>
                        </a:rPr>
                        <a:t>0</a:t>
                      </a:r>
                    </a:p>
                  </a:txBody>
                  <a:tcPr anchor="ctr" marT="38100" marB="38100" marL="76200" marR="76200">
                    <a:solidFill>
                      <a:srgbClr val="F4F7FB"/>
                    </a:solidFill>
                  </a:tcPr>
                </a:tc>
              </a:tr>
              <a:tr h="457200">
                <a:tc>
                  <a:txBody>
                    <a:bodyPr wrap="square"/>
                    <a:lstStyle/>
                    <a:p>
                      <a:pPr algn="l"/>
                      <a:r>
                        <a:rPr sz="1300" b="0" i="0">
                          <a:solidFill>
                            <a:srgbClr val="333333"/>
                          </a:solidFill>
                          <a:latin typeface="Calibri"/>
                        </a:rPr>
                        <a:t>PopAware-fairness</a:t>
                      </a:r>
                    </a:p>
                  </a:txBody>
                  <a:tcPr anchor="ctr" marT="38100" marB="38100" marL="76200" marR="76200">
                    <a:solidFill>
                      <a:srgbClr val="FFFFFF"/>
                    </a:solidFill>
                  </a:tcPr>
                </a:tc>
                <a:tc>
                  <a:txBody>
                    <a:bodyPr wrap="square"/>
                    <a:lstStyle/>
                    <a:p>
                      <a:pPr algn="ctr"/>
                      <a:r>
                        <a:rPr sz="1300" b="0" i="0">
                          <a:solidFill>
                            <a:srgbClr val="333333"/>
                          </a:solidFill>
                          <a:latin typeface="Calibri"/>
                        </a:rPr>
                        <a:t>1.0</a:t>
                      </a:r>
                    </a:p>
                  </a:txBody>
                  <a:tcPr anchor="ctr" marT="38100" marB="38100" marL="76200" marR="76200">
                    <a:solidFill>
                      <a:srgbClr val="FFFFFF"/>
                    </a:solidFill>
                  </a:tcPr>
                </a:tc>
                <a:tc>
                  <a:txBody>
                    <a:bodyPr wrap="square"/>
                    <a:lstStyle/>
                    <a:p>
                      <a:pPr algn="ctr"/>
                      <a:r>
                        <a:rPr sz="1300" b="0" i="0">
                          <a:solidFill>
                            <a:srgbClr val="333333"/>
                          </a:solidFill>
                          <a:latin typeface="Calibri"/>
                        </a:rPr>
                        <a:t>0.5</a:t>
                      </a:r>
                    </a:p>
                  </a:txBody>
                  <a:tcPr anchor="ctr" marT="38100" marB="38100" marL="76200" marR="76200">
                    <a:solidFill>
                      <a:srgbClr val="FFFFFF"/>
                    </a:solidFill>
                  </a:tcPr>
                </a:tc>
                <a:tc>
                  <a:txBody>
                    <a:bodyPr wrap="square"/>
                    <a:lstStyle/>
                    <a:p>
                      <a:pPr algn="ctr"/>
                      <a:r>
                        <a:rPr sz="1300" b="0" i="0">
                          <a:solidFill>
                            <a:srgbClr val="333333"/>
                          </a:solidFill>
                          <a:latin typeface="Calibri"/>
                        </a:rPr>
                        <a:t>0</a:t>
                      </a:r>
                    </a:p>
                  </a:txBody>
                  <a:tcPr anchor="ctr" marT="38100" marB="38100" marL="76200" marR="76200">
                    <a:solidFill>
                      <a:srgbClr val="FFFFFF"/>
                    </a:solidFill>
                  </a:tcPr>
                </a:tc>
              </a:tr>
            </a:tbl>
          </a:graphicData>
        </a:graphic>
      </p:graphicFrame>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10</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KẾT QUẢ</a:t>
            </a:r>
          </a:p>
          <a:p>
            <a:r>
              <a:rPr sz="2600" b="1" i="0">
                <a:solidFill>
                  <a:srgbClr val="1F4E79"/>
                </a:solidFill>
                <a:latin typeface="Calibri"/>
              </a:rPr>
              <a:t>Kết quả chính (mean ± std, 3 seed, K=20)</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417320"/>
          <a:ext cx="11384280" cy="2286000"/>
        </p:xfrm>
        <a:graphic>
          <a:graphicData uri="http://schemas.openxmlformats.org/drawingml/2006/table">
            <a:tbl>
              <a:tblPr firstRow="1" bandRow="1">
                <a:tableStyleId>{5C22544A-7EE6-4342-B048-85BDC9FD1C3A}</a:tableStyleId>
              </a:tblPr>
              <a:tblGrid>
                <a:gridCol w="2148840"/>
                <a:gridCol w="1554480"/>
                <a:gridCol w="1508760"/>
                <a:gridCol w="1691640"/>
                <a:gridCol w="1600200"/>
                <a:gridCol w="1371600"/>
                <a:gridCol w="1508760"/>
              </a:tblGrid>
              <a:tr h="381000">
                <a:tc>
                  <a:txBody>
                    <a:bodyPr wrap="square"/>
                    <a:lstStyle/>
                    <a:p>
                      <a:pPr algn="ctr"/>
                      <a:r>
                        <a:rPr sz="1250" b="1" i="0">
                          <a:solidFill>
                            <a:srgbClr val="FFFFFF"/>
                          </a:solidFill>
                          <a:latin typeface="Calibri"/>
                        </a:rPr>
                        <a:t>Model</a:t>
                      </a:r>
                    </a:p>
                  </a:txBody>
                  <a:tcPr anchor="ctr" marT="38100" marB="38100" marL="76200" marR="76200">
                    <a:solidFill>
                      <a:srgbClr val="1F4E79"/>
                    </a:solidFill>
                  </a:tcPr>
                </a:tc>
                <a:tc>
                  <a:txBody>
                    <a:bodyPr wrap="square"/>
                    <a:lstStyle/>
                    <a:p>
                      <a:pPr algn="ctr"/>
                      <a:r>
                        <a:rPr sz="1250" b="1" i="0">
                          <a:solidFill>
                            <a:srgbClr val="FFFFFF"/>
                          </a:solidFill>
                          <a:latin typeface="Calibri"/>
                        </a:rPr>
                        <a:t>Recall@20↑</a:t>
                      </a:r>
                    </a:p>
                  </a:txBody>
                  <a:tcPr anchor="ctr" marT="38100" marB="38100" marL="76200" marR="76200">
                    <a:solidFill>
                      <a:srgbClr val="1F4E79"/>
                    </a:solidFill>
                  </a:tcPr>
                </a:tc>
                <a:tc>
                  <a:txBody>
                    <a:bodyPr wrap="square"/>
                    <a:lstStyle/>
                    <a:p>
                      <a:pPr algn="ctr"/>
                      <a:r>
                        <a:rPr sz="1250" b="1" i="0">
                          <a:solidFill>
                            <a:srgbClr val="FFFFFF"/>
                          </a:solidFill>
                          <a:latin typeface="Calibri"/>
                        </a:rPr>
                        <a:t>NDCG@20↑</a:t>
                      </a:r>
                    </a:p>
                  </a:txBody>
                  <a:tcPr anchor="ctr" marT="38100" marB="38100" marL="76200" marR="76200">
                    <a:solidFill>
                      <a:srgbClr val="1F4E79"/>
                    </a:solidFill>
                  </a:tcPr>
                </a:tc>
                <a:tc>
                  <a:txBody>
                    <a:bodyPr wrap="square"/>
                    <a:lstStyle/>
                    <a:p>
                      <a:pPr algn="ctr"/>
                      <a:r>
                        <a:rPr sz="1250" b="1" i="0">
                          <a:solidFill>
                            <a:srgbClr val="FFFFFF"/>
                          </a:solidFill>
                          <a:latin typeface="Calibri"/>
                        </a:rPr>
                        <a:t>TailRecall@20↑</a:t>
                      </a:r>
                    </a:p>
                  </a:txBody>
                  <a:tcPr anchor="ctr" marT="38100" marB="38100" marL="76200" marR="76200">
                    <a:solidFill>
                      <a:srgbClr val="1F4E79"/>
                    </a:solidFill>
                  </a:tcPr>
                </a:tc>
                <a:tc>
                  <a:txBody>
                    <a:bodyPr wrap="square"/>
                    <a:lstStyle/>
                    <a:p>
                      <a:pPr algn="ctr"/>
                      <a:r>
                        <a:rPr sz="1250" b="1" i="0">
                          <a:solidFill>
                            <a:srgbClr val="FFFFFF"/>
                          </a:solidFill>
                          <a:latin typeface="Calibri"/>
                        </a:rPr>
                        <a:t>Coverage@20↑</a:t>
                      </a:r>
                    </a:p>
                  </a:txBody>
                  <a:tcPr anchor="ctr" marT="38100" marB="38100" marL="76200" marR="76200">
                    <a:solidFill>
                      <a:srgbClr val="1F4E79"/>
                    </a:solidFill>
                  </a:tcPr>
                </a:tc>
                <a:tc>
                  <a:txBody>
                    <a:bodyPr wrap="square"/>
                    <a:lstStyle/>
                    <a:p>
                      <a:pPr algn="ctr"/>
                      <a:r>
                        <a:rPr sz="1250" b="1" i="0">
                          <a:solidFill>
                            <a:srgbClr val="FFFFFF"/>
                          </a:solidFill>
                          <a:latin typeface="Calibri"/>
                        </a:rPr>
                        <a:t>ARP@20↓</a:t>
                      </a:r>
                    </a:p>
                  </a:txBody>
                  <a:tcPr anchor="ctr" marT="38100" marB="38100" marL="76200" marR="76200">
                    <a:solidFill>
                      <a:srgbClr val="1F4E79"/>
                    </a:solidFill>
                  </a:tcPr>
                </a:tc>
                <a:tc>
                  <a:txBody>
                    <a:bodyPr wrap="square"/>
                    <a:lstStyle/>
                    <a:p>
                      <a:pPr algn="ctr"/>
                      <a:r>
                        <a:rPr sz="1250" b="1" i="0">
                          <a:solidFill>
                            <a:srgbClr val="FFFFFF"/>
                          </a:solidFill>
                          <a:latin typeface="Calibri"/>
                        </a:rPr>
                        <a:t>HeadExp@20↓</a:t>
                      </a:r>
                    </a:p>
                  </a:txBody>
                  <a:tcPr anchor="ctr" marT="38100" marB="38100" marL="76200" marR="76200">
                    <a:solidFill>
                      <a:srgbClr val="1F4E79"/>
                    </a:solidFill>
                  </a:tcPr>
                </a:tc>
              </a:tr>
              <a:tr h="381000">
                <a:tc>
                  <a:txBody>
                    <a:bodyPr wrap="square"/>
                    <a:lstStyle/>
                    <a:p>
                      <a:pPr algn="l"/>
                      <a:r>
                        <a:rPr sz="1150" b="0" i="0">
                          <a:solidFill>
                            <a:srgbClr val="333333"/>
                          </a:solidFill>
                          <a:latin typeface="Calibri"/>
                        </a:rPr>
                        <a:t>LightGCN (baseline)</a:t>
                      </a:r>
                    </a:p>
                  </a:txBody>
                  <a:tcPr anchor="ctr" marT="38100" marB="38100" marL="76200" marR="76200">
                    <a:solidFill>
                      <a:srgbClr val="FFFFFF"/>
                    </a:solidFill>
                  </a:tcPr>
                </a:tc>
                <a:tc>
                  <a:txBody>
                    <a:bodyPr wrap="square"/>
                    <a:lstStyle/>
                    <a:p>
                      <a:pPr algn="ctr"/>
                      <a:r>
                        <a:rPr sz="1150" b="0" i="0">
                          <a:solidFill>
                            <a:srgbClr val="333333"/>
                          </a:solidFill>
                          <a:latin typeface="Calibri"/>
                        </a:rPr>
                        <a:t>0.1287±0.0005</a:t>
                      </a:r>
                    </a:p>
                  </a:txBody>
                  <a:tcPr anchor="ctr" marT="38100" marB="38100" marL="76200" marR="76200">
                    <a:solidFill>
                      <a:srgbClr val="FFFFFF"/>
                    </a:solidFill>
                  </a:tcPr>
                </a:tc>
                <a:tc>
                  <a:txBody>
                    <a:bodyPr wrap="square"/>
                    <a:lstStyle/>
                    <a:p>
                      <a:pPr algn="ctr"/>
                      <a:r>
                        <a:rPr sz="1150" b="0" i="0">
                          <a:solidFill>
                            <a:srgbClr val="333333"/>
                          </a:solidFill>
                          <a:latin typeface="Calibri"/>
                        </a:rPr>
                        <a:t>0.0497±0.0002</a:t>
                      </a:r>
                    </a:p>
                  </a:txBody>
                  <a:tcPr anchor="ctr" marT="38100" marB="38100" marL="76200" marR="76200">
                    <a:solidFill>
                      <a:srgbClr val="FFFFFF"/>
                    </a:solidFill>
                  </a:tcPr>
                </a:tc>
                <a:tc>
                  <a:txBody>
                    <a:bodyPr wrap="square"/>
                    <a:lstStyle/>
                    <a:p>
                      <a:pPr algn="ctr"/>
                      <a:r>
                        <a:rPr sz="1150" b="0" i="0">
                          <a:solidFill>
                            <a:srgbClr val="333333"/>
                          </a:solidFill>
                          <a:latin typeface="Calibri"/>
                        </a:rPr>
                        <a:t>0.0050±0.0009</a:t>
                      </a:r>
                    </a:p>
                  </a:txBody>
                  <a:tcPr anchor="ctr" marT="38100" marB="38100" marL="76200" marR="76200">
                    <a:solidFill>
                      <a:srgbClr val="FFFFFF"/>
                    </a:solidFill>
                  </a:tcPr>
                </a:tc>
                <a:tc>
                  <a:txBody>
                    <a:bodyPr wrap="square"/>
                    <a:lstStyle/>
                    <a:p>
                      <a:pPr algn="ctr"/>
                      <a:r>
                        <a:rPr sz="1150" b="0" i="0">
                          <a:solidFill>
                            <a:srgbClr val="333333"/>
                          </a:solidFill>
                          <a:latin typeface="Calibri"/>
                        </a:rPr>
                        <a:t>0.3978±0.0043</a:t>
                      </a:r>
                    </a:p>
                  </a:txBody>
                  <a:tcPr anchor="ctr" marT="38100" marB="38100" marL="76200" marR="76200">
                    <a:solidFill>
                      <a:srgbClr val="FFFFFF"/>
                    </a:solidFill>
                  </a:tcPr>
                </a:tc>
                <a:tc>
                  <a:txBody>
                    <a:bodyPr wrap="square"/>
                    <a:lstStyle/>
                    <a:p>
                      <a:pPr algn="ctr"/>
                      <a:r>
                        <a:rPr sz="1150" b="0" i="0">
                          <a:solidFill>
                            <a:srgbClr val="333333"/>
                          </a:solidFill>
                          <a:latin typeface="Calibri"/>
                        </a:rPr>
                        <a:t>6.833±0.009</a:t>
                      </a:r>
                    </a:p>
                  </a:txBody>
                  <a:tcPr anchor="ctr" marT="38100" marB="38100" marL="76200" marR="76200">
                    <a:solidFill>
                      <a:srgbClr val="FFFFFF"/>
                    </a:solidFill>
                  </a:tcPr>
                </a:tc>
                <a:tc>
                  <a:txBody>
                    <a:bodyPr wrap="square"/>
                    <a:lstStyle/>
                    <a:p>
                      <a:pPr algn="ctr"/>
                      <a:r>
                        <a:rPr sz="1150" b="0" i="0">
                          <a:solidFill>
                            <a:srgbClr val="333333"/>
                          </a:solidFill>
                          <a:latin typeface="Calibri"/>
                        </a:rPr>
                        <a:t>0.9587±0.0006</a:t>
                      </a:r>
                    </a:p>
                  </a:txBody>
                  <a:tcPr anchor="ctr" marT="38100" marB="38100" marL="76200" marR="76200">
                    <a:solidFill>
                      <a:srgbClr val="FFFFFF"/>
                    </a:solidFill>
                  </a:tcPr>
                </a:tc>
              </a:tr>
              <a:tr h="381000">
                <a:tc>
                  <a:txBody>
                    <a:bodyPr wrap="square"/>
                    <a:lstStyle/>
                    <a:p>
                      <a:pPr algn="l"/>
                      <a:r>
                        <a:rPr sz="1150" b="0" i="0">
                          <a:solidFill>
                            <a:srgbClr val="333333"/>
                          </a:solidFill>
                          <a:latin typeface="Calibri"/>
                        </a:rPr>
                        <a:t>PopAware-accuracy</a:t>
                      </a:r>
                    </a:p>
                  </a:txBody>
                  <a:tcPr anchor="ctr" marT="38100" marB="38100" marL="76200" marR="76200">
                    <a:solidFill>
                      <a:srgbClr val="F4F7FB"/>
                    </a:solidFill>
                  </a:tcPr>
                </a:tc>
                <a:tc>
                  <a:txBody>
                    <a:bodyPr wrap="square"/>
                    <a:lstStyle/>
                    <a:p>
                      <a:pPr algn="ctr"/>
                      <a:r>
                        <a:rPr sz="1150" b="0" i="0">
                          <a:solidFill>
                            <a:srgbClr val="333333"/>
                          </a:solidFill>
                          <a:latin typeface="Calibri"/>
                        </a:rPr>
                        <a:t>0.1367±0.0035</a:t>
                      </a:r>
                    </a:p>
                  </a:txBody>
                  <a:tcPr anchor="ctr" marT="38100" marB="38100" marL="76200" marR="76200">
                    <a:solidFill>
                      <a:srgbClr val="F4F7FB"/>
                    </a:solidFill>
                  </a:tcPr>
                </a:tc>
                <a:tc>
                  <a:txBody>
                    <a:bodyPr wrap="square"/>
                    <a:lstStyle/>
                    <a:p>
                      <a:pPr algn="ctr"/>
                      <a:r>
                        <a:rPr sz="1150" b="0" i="0">
                          <a:solidFill>
                            <a:srgbClr val="333333"/>
                          </a:solidFill>
                          <a:latin typeface="Calibri"/>
                        </a:rPr>
                        <a:t>0.0527±0.0006</a:t>
                      </a:r>
                    </a:p>
                  </a:txBody>
                  <a:tcPr anchor="ctr" marT="38100" marB="38100" marL="76200" marR="76200">
                    <a:solidFill>
                      <a:srgbClr val="F4F7FB"/>
                    </a:solidFill>
                  </a:tcPr>
                </a:tc>
                <a:tc>
                  <a:txBody>
                    <a:bodyPr wrap="square"/>
                    <a:lstStyle/>
                    <a:p>
                      <a:pPr algn="ctr"/>
                      <a:r>
                        <a:rPr sz="1150" b="0" i="0">
                          <a:solidFill>
                            <a:srgbClr val="333333"/>
                          </a:solidFill>
                          <a:latin typeface="Calibri"/>
                        </a:rPr>
                        <a:t>0.0143±0.0023</a:t>
                      </a:r>
                    </a:p>
                  </a:txBody>
                  <a:tcPr anchor="ctr" marT="38100" marB="38100" marL="76200" marR="76200">
                    <a:solidFill>
                      <a:srgbClr val="F4F7FB"/>
                    </a:solidFill>
                  </a:tcPr>
                </a:tc>
                <a:tc>
                  <a:txBody>
                    <a:bodyPr wrap="square"/>
                    <a:lstStyle/>
                    <a:p>
                      <a:pPr algn="ctr"/>
                      <a:r>
                        <a:rPr sz="1150" b="0" i="0">
                          <a:solidFill>
                            <a:srgbClr val="333333"/>
                          </a:solidFill>
                          <a:latin typeface="Calibri"/>
                        </a:rPr>
                        <a:t>0.4619±0.0289</a:t>
                      </a:r>
                    </a:p>
                  </a:txBody>
                  <a:tcPr anchor="ctr" marT="38100" marB="38100" marL="76200" marR="76200">
                    <a:solidFill>
                      <a:srgbClr val="F4F7FB"/>
                    </a:solidFill>
                  </a:tcPr>
                </a:tc>
                <a:tc>
                  <a:txBody>
                    <a:bodyPr wrap="square"/>
                    <a:lstStyle/>
                    <a:p>
                      <a:pPr algn="ctr"/>
                      <a:r>
                        <a:rPr sz="1150" b="0" i="0">
                          <a:solidFill>
                            <a:srgbClr val="333333"/>
                          </a:solidFill>
                          <a:latin typeface="Calibri"/>
                        </a:rPr>
                        <a:t>6.500±0.051</a:t>
                      </a:r>
                    </a:p>
                  </a:txBody>
                  <a:tcPr anchor="ctr" marT="38100" marB="38100" marL="76200" marR="76200">
                    <a:solidFill>
                      <a:srgbClr val="F4F7FB"/>
                    </a:solidFill>
                  </a:tcPr>
                </a:tc>
                <a:tc>
                  <a:txBody>
                    <a:bodyPr wrap="square"/>
                    <a:lstStyle/>
                    <a:p>
                      <a:pPr algn="ctr"/>
                      <a:r>
                        <a:rPr sz="1150" b="0" i="0">
                          <a:solidFill>
                            <a:srgbClr val="333333"/>
                          </a:solidFill>
                          <a:latin typeface="Calibri"/>
                        </a:rPr>
                        <a:t>0.9171±0.0144</a:t>
                      </a:r>
                    </a:p>
                  </a:txBody>
                  <a:tcPr anchor="ctr" marT="38100" marB="38100" marL="76200" marR="76200">
                    <a:solidFill>
                      <a:srgbClr val="F4F7FB"/>
                    </a:solidFill>
                  </a:tcPr>
                </a:tc>
              </a:tr>
              <a:tr h="381000">
                <a:tc>
                  <a:txBody>
                    <a:bodyPr wrap="square"/>
                    <a:lstStyle/>
                    <a:p>
                      <a:pPr algn="l"/>
                      <a:r>
                        <a:rPr sz="1150" b="1" i="0">
                          <a:solidFill>
                            <a:srgbClr val="1F4E79"/>
                          </a:solidFill>
                          <a:latin typeface="Calibri"/>
                        </a:rPr>
                        <a:t>PopAware-BEST</a:t>
                      </a:r>
                    </a:p>
                  </a:txBody>
                  <a:tcPr anchor="ctr" marT="38100" marB="38100" marL="76200" marR="76200">
                    <a:solidFill>
                      <a:srgbClr val="DDEAF7"/>
                    </a:solidFill>
                  </a:tcPr>
                </a:tc>
                <a:tc>
                  <a:txBody>
                    <a:bodyPr wrap="square"/>
                    <a:lstStyle/>
                    <a:p>
                      <a:pPr algn="ctr"/>
                      <a:r>
                        <a:rPr sz="1150" b="1" i="0">
                          <a:solidFill>
                            <a:srgbClr val="1F4E79"/>
                          </a:solidFill>
                          <a:latin typeface="Calibri"/>
                        </a:rPr>
                        <a:t>0.1338±0.0030</a:t>
                      </a:r>
                    </a:p>
                  </a:txBody>
                  <a:tcPr anchor="ctr" marT="38100" marB="38100" marL="76200" marR="76200">
                    <a:solidFill>
                      <a:srgbClr val="DDEAF7"/>
                    </a:solidFill>
                  </a:tcPr>
                </a:tc>
                <a:tc>
                  <a:txBody>
                    <a:bodyPr wrap="square"/>
                    <a:lstStyle/>
                    <a:p>
                      <a:pPr algn="ctr"/>
                      <a:r>
                        <a:rPr sz="1150" b="1" i="0">
                          <a:solidFill>
                            <a:srgbClr val="1F4E79"/>
                          </a:solidFill>
                          <a:latin typeface="Calibri"/>
                        </a:rPr>
                        <a:t>0.0518±0.0004</a:t>
                      </a:r>
                    </a:p>
                  </a:txBody>
                  <a:tcPr anchor="ctr" marT="38100" marB="38100" marL="76200" marR="76200">
                    <a:solidFill>
                      <a:srgbClr val="DDEAF7"/>
                    </a:solidFill>
                  </a:tcPr>
                </a:tc>
                <a:tc>
                  <a:txBody>
                    <a:bodyPr wrap="square"/>
                    <a:lstStyle/>
                    <a:p>
                      <a:pPr algn="ctr"/>
                      <a:r>
                        <a:rPr sz="1150" b="1" i="0">
                          <a:solidFill>
                            <a:srgbClr val="1F4E79"/>
                          </a:solidFill>
                          <a:latin typeface="Calibri"/>
                        </a:rPr>
                        <a:t>0.0324±0.0049</a:t>
                      </a:r>
                    </a:p>
                  </a:txBody>
                  <a:tcPr anchor="ctr" marT="38100" marB="38100" marL="76200" marR="76200">
                    <a:solidFill>
                      <a:srgbClr val="DDEAF7"/>
                    </a:solidFill>
                  </a:tcPr>
                </a:tc>
                <a:tc>
                  <a:txBody>
                    <a:bodyPr wrap="square"/>
                    <a:lstStyle/>
                    <a:p>
                      <a:pPr algn="ctr"/>
                      <a:r>
                        <a:rPr sz="1150" b="1" i="0">
                          <a:solidFill>
                            <a:srgbClr val="1F4E79"/>
                          </a:solidFill>
                          <a:latin typeface="Calibri"/>
                        </a:rPr>
                        <a:t>0.5384±0.0293</a:t>
                      </a:r>
                    </a:p>
                  </a:txBody>
                  <a:tcPr anchor="ctr" marT="38100" marB="38100" marL="76200" marR="76200">
                    <a:solidFill>
                      <a:srgbClr val="DDEAF7"/>
                    </a:solidFill>
                  </a:tcPr>
                </a:tc>
                <a:tc>
                  <a:txBody>
                    <a:bodyPr wrap="square"/>
                    <a:lstStyle/>
                    <a:p>
                      <a:pPr algn="ctr"/>
                      <a:r>
                        <a:rPr sz="1150" b="1" i="0">
                          <a:solidFill>
                            <a:srgbClr val="1F4E79"/>
                          </a:solidFill>
                          <a:latin typeface="Calibri"/>
                        </a:rPr>
                        <a:t>6.400±0.042</a:t>
                      </a:r>
                    </a:p>
                  </a:txBody>
                  <a:tcPr anchor="ctr" marT="38100" marB="38100" marL="76200" marR="76200">
                    <a:solidFill>
                      <a:srgbClr val="DDEAF7"/>
                    </a:solidFill>
                  </a:tcPr>
                </a:tc>
                <a:tc>
                  <a:txBody>
                    <a:bodyPr wrap="square"/>
                    <a:lstStyle/>
                    <a:p>
                      <a:pPr algn="ctr"/>
                      <a:r>
                        <a:rPr sz="1150" b="1" i="0">
                          <a:solidFill>
                            <a:srgbClr val="1F4E79"/>
                          </a:solidFill>
                          <a:latin typeface="Calibri"/>
                        </a:rPr>
                        <a:t>0.8826±0.0114</a:t>
                      </a:r>
                    </a:p>
                  </a:txBody>
                  <a:tcPr anchor="ctr" marT="38100" marB="38100" marL="76200" marR="76200">
                    <a:solidFill>
                      <a:srgbClr val="DDEAF7"/>
                    </a:solidFill>
                  </a:tcPr>
                </a:tc>
              </a:tr>
              <a:tr h="381000">
                <a:tc>
                  <a:txBody>
                    <a:bodyPr wrap="square"/>
                    <a:lstStyle/>
                    <a:p>
                      <a:pPr algn="l"/>
                      <a:r>
                        <a:rPr sz="1150" b="0" i="0">
                          <a:solidFill>
                            <a:srgbClr val="333333"/>
                          </a:solidFill>
                          <a:latin typeface="Calibri"/>
                        </a:rPr>
                        <a:t>PopAware-high-tail</a:t>
                      </a:r>
                    </a:p>
                  </a:txBody>
                  <a:tcPr anchor="ctr" marT="38100" marB="38100" marL="76200" marR="76200">
                    <a:solidFill>
                      <a:srgbClr val="F4F7FB"/>
                    </a:solidFill>
                  </a:tcPr>
                </a:tc>
                <a:tc>
                  <a:txBody>
                    <a:bodyPr wrap="square"/>
                    <a:lstStyle/>
                    <a:p>
                      <a:pPr algn="ctr"/>
                      <a:r>
                        <a:rPr sz="1150" b="0" i="0">
                          <a:solidFill>
                            <a:srgbClr val="333333"/>
                          </a:solidFill>
                          <a:latin typeface="Calibri"/>
                        </a:rPr>
                        <a:t>0.1352±0.0020</a:t>
                      </a:r>
                    </a:p>
                  </a:txBody>
                  <a:tcPr anchor="ctr" marT="38100" marB="38100" marL="76200" marR="76200">
                    <a:solidFill>
                      <a:srgbClr val="F4F7FB"/>
                    </a:solidFill>
                  </a:tcPr>
                </a:tc>
                <a:tc>
                  <a:txBody>
                    <a:bodyPr wrap="square"/>
                    <a:lstStyle/>
                    <a:p>
                      <a:pPr algn="ctr"/>
                      <a:r>
                        <a:rPr sz="1150" b="0" i="0">
                          <a:solidFill>
                            <a:srgbClr val="333333"/>
                          </a:solidFill>
                          <a:latin typeface="Calibri"/>
                        </a:rPr>
                        <a:t>0.0524±0.0004</a:t>
                      </a:r>
                    </a:p>
                  </a:txBody>
                  <a:tcPr anchor="ctr" marT="38100" marB="38100" marL="76200" marR="76200">
                    <a:solidFill>
                      <a:srgbClr val="F4F7FB"/>
                    </a:solidFill>
                  </a:tcPr>
                </a:tc>
                <a:tc>
                  <a:txBody>
                    <a:bodyPr wrap="square"/>
                    <a:lstStyle/>
                    <a:p>
                      <a:pPr algn="ctr"/>
                      <a:r>
                        <a:rPr sz="1150" b="0" i="0">
                          <a:solidFill>
                            <a:srgbClr val="333333"/>
                          </a:solidFill>
                          <a:latin typeface="Calibri"/>
                        </a:rPr>
                        <a:t>0.0399±0.0023</a:t>
                      </a:r>
                    </a:p>
                  </a:txBody>
                  <a:tcPr anchor="ctr" marT="38100" marB="38100" marL="76200" marR="76200">
                    <a:solidFill>
                      <a:srgbClr val="F4F7FB"/>
                    </a:solidFill>
                  </a:tcPr>
                </a:tc>
                <a:tc>
                  <a:txBody>
                    <a:bodyPr wrap="square"/>
                    <a:lstStyle/>
                    <a:p>
                      <a:pPr algn="ctr"/>
                      <a:r>
                        <a:rPr sz="1150" b="0" i="0">
                          <a:solidFill>
                            <a:srgbClr val="333333"/>
                          </a:solidFill>
                          <a:latin typeface="Calibri"/>
                        </a:rPr>
                        <a:t>0.4990±0.0099</a:t>
                      </a:r>
                    </a:p>
                  </a:txBody>
                  <a:tcPr anchor="ctr" marT="38100" marB="38100" marL="76200" marR="76200">
                    <a:solidFill>
                      <a:srgbClr val="F4F7FB"/>
                    </a:solidFill>
                  </a:tcPr>
                </a:tc>
                <a:tc>
                  <a:txBody>
                    <a:bodyPr wrap="square"/>
                    <a:lstStyle/>
                    <a:p>
                      <a:pPr algn="ctr"/>
                      <a:r>
                        <a:rPr sz="1150" b="0" i="0">
                          <a:solidFill>
                            <a:srgbClr val="333333"/>
                          </a:solidFill>
                          <a:latin typeface="Calibri"/>
                        </a:rPr>
                        <a:t>6.564±0.008</a:t>
                      </a:r>
                    </a:p>
                  </a:txBody>
                  <a:tcPr anchor="ctr" marT="38100" marB="38100" marL="76200" marR="76200">
                    <a:solidFill>
                      <a:srgbClr val="F4F7FB"/>
                    </a:solidFill>
                  </a:tcPr>
                </a:tc>
                <a:tc>
                  <a:txBody>
                    <a:bodyPr wrap="square"/>
                    <a:lstStyle/>
                    <a:p>
                      <a:pPr algn="ctr"/>
                      <a:r>
                        <a:rPr sz="1150" b="0" i="0">
                          <a:solidFill>
                            <a:srgbClr val="333333"/>
                          </a:solidFill>
                          <a:latin typeface="Calibri"/>
                        </a:rPr>
                        <a:t>0.9117±0.0005</a:t>
                      </a:r>
                    </a:p>
                  </a:txBody>
                  <a:tcPr anchor="ctr" marT="38100" marB="38100" marL="76200" marR="76200">
                    <a:solidFill>
                      <a:srgbClr val="F4F7FB"/>
                    </a:solidFill>
                  </a:tcPr>
                </a:tc>
              </a:tr>
              <a:tr h="381000">
                <a:tc>
                  <a:txBody>
                    <a:bodyPr wrap="square"/>
                    <a:lstStyle/>
                    <a:p>
                      <a:pPr algn="l"/>
                      <a:r>
                        <a:rPr sz="1150" b="0" i="0">
                          <a:solidFill>
                            <a:srgbClr val="333333"/>
                          </a:solidFill>
                          <a:latin typeface="Calibri"/>
                        </a:rPr>
                        <a:t>PopAware-fairness</a:t>
                      </a:r>
                    </a:p>
                  </a:txBody>
                  <a:tcPr anchor="ctr" marT="38100" marB="38100" marL="76200" marR="76200">
                    <a:solidFill>
                      <a:srgbClr val="FFFFFF"/>
                    </a:solidFill>
                  </a:tcPr>
                </a:tc>
                <a:tc>
                  <a:txBody>
                    <a:bodyPr wrap="square"/>
                    <a:lstStyle/>
                    <a:p>
                      <a:pPr algn="ctr"/>
                      <a:r>
                        <a:rPr sz="1150" b="0" i="0">
                          <a:solidFill>
                            <a:srgbClr val="333333"/>
                          </a:solidFill>
                          <a:latin typeface="Calibri"/>
                        </a:rPr>
                        <a:t>0.1052±0.0039</a:t>
                      </a:r>
                    </a:p>
                  </a:txBody>
                  <a:tcPr anchor="ctr" marT="38100" marB="38100" marL="76200" marR="76200">
                    <a:solidFill>
                      <a:srgbClr val="FFFFFF"/>
                    </a:solidFill>
                  </a:tcPr>
                </a:tc>
                <a:tc>
                  <a:txBody>
                    <a:bodyPr wrap="square"/>
                    <a:lstStyle/>
                    <a:p>
                      <a:pPr algn="ctr"/>
                      <a:r>
                        <a:rPr sz="1150" b="0" i="0">
                          <a:solidFill>
                            <a:srgbClr val="333333"/>
                          </a:solidFill>
                          <a:latin typeface="Calibri"/>
                        </a:rPr>
                        <a:t>0.0415±0.0011</a:t>
                      </a:r>
                    </a:p>
                  </a:txBody>
                  <a:tcPr anchor="ctr" marT="38100" marB="38100" marL="76200" marR="76200">
                    <a:solidFill>
                      <a:srgbClr val="FFFFFF"/>
                    </a:solidFill>
                  </a:tcPr>
                </a:tc>
                <a:tc>
                  <a:txBody>
                    <a:bodyPr wrap="square"/>
                    <a:lstStyle/>
                    <a:p>
                      <a:pPr algn="ctr"/>
                      <a:r>
                        <a:rPr sz="1150" b="0" i="0">
                          <a:solidFill>
                            <a:srgbClr val="333333"/>
                          </a:solidFill>
                          <a:latin typeface="Calibri"/>
                        </a:rPr>
                        <a:t>0.0274±0.0035</a:t>
                      </a:r>
                    </a:p>
                  </a:txBody>
                  <a:tcPr anchor="ctr" marT="38100" marB="38100" marL="76200" marR="76200">
                    <a:solidFill>
                      <a:srgbClr val="FFFFFF"/>
                    </a:solidFill>
                  </a:tcPr>
                </a:tc>
                <a:tc>
                  <a:txBody>
                    <a:bodyPr wrap="square"/>
                    <a:lstStyle/>
                    <a:p>
                      <a:pPr algn="ctr"/>
                      <a:r>
                        <a:rPr sz="1150" b="0" i="0">
                          <a:solidFill>
                            <a:srgbClr val="333333"/>
                          </a:solidFill>
                          <a:latin typeface="Calibri"/>
                        </a:rPr>
                        <a:t>0.7135±0.0027</a:t>
                      </a:r>
                    </a:p>
                  </a:txBody>
                  <a:tcPr anchor="ctr" marT="38100" marB="38100" marL="76200" marR="76200">
                    <a:solidFill>
                      <a:srgbClr val="FFFFFF"/>
                    </a:solidFill>
                  </a:tcPr>
                </a:tc>
                <a:tc>
                  <a:txBody>
                    <a:bodyPr wrap="square"/>
                    <a:lstStyle/>
                    <a:p>
                      <a:pPr algn="ctr"/>
                      <a:r>
                        <a:rPr sz="1150" b="0" i="0">
                          <a:solidFill>
                            <a:srgbClr val="333333"/>
                          </a:solidFill>
                          <a:latin typeface="Calibri"/>
                        </a:rPr>
                        <a:t>6.138±0.001</a:t>
                      </a:r>
                    </a:p>
                  </a:txBody>
                  <a:tcPr anchor="ctr" marT="38100" marB="38100" marL="76200" marR="76200">
                    <a:solidFill>
                      <a:srgbClr val="FFFFFF"/>
                    </a:solidFill>
                  </a:tcPr>
                </a:tc>
                <a:tc>
                  <a:txBody>
                    <a:bodyPr wrap="square"/>
                    <a:lstStyle/>
                    <a:p>
                      <a:pPr algn="ctr"/>
                      <a:r>
                        <a:rPr sz="1150" b="0" i="0">
                          <a:solidFill>
                            <a:srgbClr val="333333"/>
                          </a:solidFill>
                          <a:latin typeface="Calibri"/>
                        </a:rPr>
                        <a:t>0.8333±0.0016</a:t>
                      </a:r>
                    </a:p>
                  </a:txBody>
                  <a:tcPr anchor="ctr" marT="38100" marB="38100" marL="76200" marR="76200">
                    <a:solidFill>
                      <a:srgbClr val="FFFFFF"/>
                    </a:solidFill>
                  </a:tcPr>
                </a:tc>
              </a:tr>
            </a:tbl>
          </a:graphicData>
        </a:graphic>
      </p:graphicFrame>
      <p:sp>
        <p:nvSpPr>
          <p:cNvPr id="5" name="Rounded Rectangle 4"/>
          <p:cNvSpPr/>
          <p:nvPr/>
        </p:nvSpPr>
        <p:spPr>
          <a:xfrm>
            <a:off x="411480" y="3977639"/>
            <a:ext cx="11384280" cy="594360"/>
          </a:xfrm>
          <a:prstGeom prst="roundRect">
            <a:avLst/>
          </a:prstGeom>
          <a:solidFill>
            <a:srgbClr val="E6F4EA"/>
          </a:solidFill>
          <a:ln w="15875">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50" b="1" i="0">
                <a:solidFill>
                  <a:srgbClr val="1E7B34"/>
                </a:solidFill>
                <a:latin typeface="Calibri"/>
              </a:rPr>
              <a:t>PopAware-BEST vs LightGCN:  TailRecall ×6.5  •  Coverage +35%  •  ARP −6.3%  •  HeadExposure −7.9%  •  Recall +4.0%</a:t>
            </a:r>
          </a:p>
        </p:txBody>
      </p:sp>
      <p:sp>
        <p:nvSpPr>
          <p:cNvPr id="6" name="TextBox 5"/>
          <p:cNvSpPr txBox="1"/>
          <p:nvPr/>
        </p:nvSpPr>
        <p:spPr>
          <a:xfrm>
            <a:off x="411480" y="4754880"/>
            <a:ext cx="11384280" cy="1463040"/>
          </a:xfrm>
          <a:prstGeom prst="rect">
            <a:avLst/>
          </a:prstGeom>
          <a:noFill/>
        </p:spPr>
        <p:txBody>
          <a:bodyPr wrap="square">
            <a:spAutoFit/>
          </a:bodyPr>
          <a:lstStyle/>
          <a:p>
            <a:pPr>
              <a:spcAft>
                <a:spcPts val="800"/>
              </a:spcAft>
            </a:pPr>
            <a:r>
              <a:rPr sz="1450" b="0" i="0">
                <a:solidFill>
                  <a:srgbClr val="333333"/>
                </a:solidFill>
                <a:latin typeface="Calibri"/>
              </a:rPr>
              <a:t>— Khoảng mean±std của baseline và mọi cấu hình PopAware KHÔNG chồng lấn trên các metric bias → cải thiện có ý nghĩa thống kê, không phải nhiễu do seed.</a:t>
            </a:r>
          </a:p>
          <a:p>
            <a:pPr>
              <a:spcAft>
                <a:spcPts val="800"/>
              </a:spcAft>
            </a:pPr>
            <a:r>
              <a:rPr sz="1450" b="0" i="0">
                <a:solidFill>
                  <a:srgbClr val="333333"/>
                </a:solidFill>
                <a:latin typeface="Calibri"/>
              </a:rPr>
              <a:t>— 3/4 cấu hình PopAware (accuracy, BEST, high-tail) cải thiện bias mà vẫn TĂNG Recall/NDCG so với baseline; chỉ “fairness” đánh đổi accuracy để lấy bias thấp nhất.</a:t>
            </a:r>
          </a:p>
        </p:txBody>
      </p:sp>
      <p:sp>
        <p:nvSpPr>
          <p:cNvPr id="7" name="TextBox 6"/>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11</a:t>
            </a:r>
          </a:p>
        </p:txBody>
      </p:sp>
      <p:sp>
        <p:nvSpPr>
          <p:cNvPr id="8" name="TextBox 7"/>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KẾT QUẢ</a:t>
            </a:r>
          </a:p>
          <a:p>
            <a:r>
              <a:rPr sz="2600" b="1" i="0">
                <a:solidFill>
                  <a:srgbClr val="1F4E79"/>
                </a:solidFill>
                <a:latin typeface="Calibri"/>
              </a:rPr>
              <a:t>Frontier: đánh đổi Accuracy ↔ Fairness</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rontier_chart.png"/>
          <p:cNvPicPr>
            <a:picLocks noChangeAspect="1"/>
          </p:cNvPicPr>
          <p:nvPr/>
        </p:nvPicPr>
        <p:blipFill>
          <a:blip r:embed="rId2"/>
          <a:stretch>
            <a:fillRect/>
          </a:stretch>
        </p:blipFill>
        <p:spPr>
          <a:xfrm>
            <a:off x="1881617" y="1417320"/>
            <a:ext cx="8428459" cy="4617720"/>
          </a:xfrm>
          <a:prstGeom prst="rect">
            <a:avLst/>
          </a:prstGeom>
        </p:spPr>
      </p:pic>
      <p:sp>
        <p:nvSpPr>
          <p:cNvPr id="5" name="TextBox 4"/>
          <p:cNvSpPr txBox="1"/>
          <p:nvPr/>
        </p:nvSpPr>
        <p:spPr>
          <a:xfrm>
            <a:off x="548640" y="5943600"/>
            <a:ext cx="11064240" cy="685800"/>
          </a:xfrm>
          <a:prstGeom prst="rect">
            <a:avLst/>
          </a:prstGeom>
          <a:noFill/>
        </p:spPr>
        <p:txBody>
          <a:bodyPr wrap="square">
            <a:spAutoFit/>
          </a:bodyPr>
          <a:lstStyle/>
          <a:p>
            <a:pPr>
              <a:spcAft>
                <a:spcPts val="300"/>
              </a:spcAft>
            </a:pPr>
            <a:r>
              <a:rPr sz="1300" b="0" i="0">
                <a:solidFill>
                  <a:srgbClr val="333333"/>
                </a:solidFill>
                <a:latin typeface="Calibri"/>
              </a:rPr>
              <a:t>— 4 điểm PopAware tạo một đường frontier CHỌN ĐƯỢC theo nhu cầu bài toán — BPR-MF chỉ là một điểm cố định.</a:t>
            </a:r>
          </a:p>
          <a:p>
            <a:pPr>
              <a:spcAft>
                <a:spcPts val="300"/>
              </a:spcAft>
            </a:pPr>
            <a:r>
              <a:rPr sz="1300" b="0" i="0">
                <a:solidFill>
                  <a:srgbClr val="333333"/>
                </a:solidFill>
                <a:latin typeface="Calibri"/>
              </a:rPr>
              <a:t>— Cụm PopAware nằm bên phải LightGCN gốc (Recall cao hơn); “fairness” đổi accuracy nhiều nhất để đạt Coverage/HeadExposure tốt nhất.</a:t>
            </a:r>
          </a:p>
        </p:txBody>
      </p:sp>
      <p:sp>
        <p:nvSpPr>
          <p:cNvPr id="6" name="TextBox 5"/>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12</a:t>
            </a:r>
          </a:p>
        </p:txBody>
      </p:sp>
      <p:sp>
        <p:nvSpPr>
          <p:cNvPr id="7" name="TextBox 6"/>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914400"/>
          </a:xfrm>
          <a:prstGeom prst="rect">
            <a:avLst/>
          </a:prstGeom>
          <a:noFill/>
        </p:spPr>
        <p:txBody>
          <a:bodyPr wrap="square">
            <a:spAutoFit/>
          </a:bodyPr>
          <a:lstStyle/>
          <a:p>
            <a:r>
              <a:rPr sz="1400" b="1" i="0">
                <a:solidFill>
                  <a:srgbClr val="2E74B5"/>
                </a:solidFill>
                <a:latin typeface="Calibri"/>
              </a:rPr>
              <a:t>PHÂN TÍCH &amp; KẾT LUẬN</a:t>
            </a:r>
          </a:p>
          <a:p>
            <a:r>
              <a:rPr sz="2600" b="1" i="0">
                <a:solidFill>
                  <a:srgbClr val="1F4E79"/>
                </a:solidFill>
                <a:latin typeface="Calibri"/>
              </a:rPr>
              <a:t>Đã đạt kỳ vọng ban đầu chưa?</a:t>
            </a:r>
          </a:p>
        </p:txBody>
      </p:sp>
      <p:sp>
        <p:nvSpPr>
          <p:cNvPr id="3" name="Rectangle 2"/>
          <p:cNvSpPr/>
          <p:nvPr/>
        </p:nvSpPr>
        <p:spPr>
          <a:xfrm>
            <a:off x="502920" y="1170432"/>
            <a:ext cx="11155680" cy="279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371600"/>
          <a:ext cx="11384280" cy="2743200"/>
        </p:xfrm>
        <a:graphic>
          <a:graphicData uri="http://schemas.openxmlformats.org/drawingml/2006/table">
            <a:tbl>
              <a:tblPr firstRow="1" bandRow="1">
                <a:tableStyleId>{5C22544A-7EE6-4342-B048-85BDC9FD1C3A}</a:tableStyleId>
              </a:tblPr>
              <a:tblGrid>
                <a:gridCol w="4846320"/>
                <a:gridCol w="5623560"/>
                <a:gridCol w="914400"/>
              </a:tblGrid>
              <a:tr h="391885">
                <a:tc>
                  <a:txBody>
                    <a:bodyPr wrap="square"/>
                    <a:lstStyle/>
                    <a:p>
                      <a:pPr algn="ctr"/>
                      <a:r>
                        <a:rPr sz="1300" b="1" i="0">
                          <a:solidFill>
                            <a:srgbClr val="FFFFFF"/>
                          </a:solidFill>
                          <a:latin typeface="Calibri"/>
                        </a:rPr>
                        <a:t>Kỳ vọng ban đầu</a:t>
                      </a:r>
                    </a:p>
                  </a:txBody>
                  <a:tcPr anchor="ctr" marT="38100" marB="38100" marL="76200" marR="76200">
                    <a:solidFill>
                      <a:srgbClr val="1F4E79"/>
                    </a:solidFill>
                  </a:tcPr>
                </a:tc>
                <a:tc>
                  <a:txBody>
                    <a:bodyPr wrap="square"/>
                    <a:lstStyle/>
                    <a:p>
                      <a:pPr algn="ctr"/>
                      <a:r>
                        <a:rPr sz="1300" b="1" i="0">
                          <a:solidFill>
                            <a:srgbClr val="FFFFFF"/>
                          </a:solidFill>
                          <a:latin typeface="Calibri"/>
                        </a:rPr>
                        <a:t>Kết quả đo được (BEST vs baseline)</a:t>
                      </a:r>
                    </a:p>
                  </a:txBody>
                  <a:tcPr anchor="ctr" marT="38100" marB="38100" marL="76200" marR="76200">
                    <a:solidFill>
                      <a:srgbClr val="1F4E79"/>
                    </a:solidFill>
                  </a:tcPr>
                </a:tc>
                <a:tc>
                  <a:txBody>
                    <a:bodyPr wrap="square"/>
                    <a:lstStyle/>
                    <a:p>
                      <a:pPr algn="ctr"/>
                      <a:r>
                        <a:rPr sz="1300" b="1" i="0">
                          <a:solidFill>
                            <a:srgbClr val="FFFFFF"/>
                          </a:solidFill>
                          <a:latin typeface="Calibri"/>
                        </a:rPr>
                        <a:t>Đạt?</a:t>
                      </a:r>
                    </a:p>
                  </a:txBody>
                  <a:tcPr anchor="ctr" marT="38100" marB="38100" marL="76200" marR="76200">
                    <a:solidFill>
                      <a:srgbClr val="1F4E79"/>
                    </a:solidFill>
                  </a:tcPr>
                </a:tc>
              </a:tr>
              <a:tr h="391885">
                <a:tc>
                  <a:txBody>
                    <a:bodyPr wrap="square"/>
                    <a:lstStyle/>
                    <a:p>
                      <a:pPr algn="l"/>
                      <a:r>
                        <a:rPr sz="1200" b="0" i="0">
                          <a:solidFill>
                            <a:srgbClr val="333333"/>
                          </a:solidFill>
                          <a:latin typeface="Calibri"/>
                        </a:rPr>
                        <a:t>TailRecall@20 tăng</a:t>
                      </a:r>
                    </a:p>
                  </a:txBody>
                  <a:tcPr anchor="ctr" marT="38100" marB="38100" marL="76200" marR="76200">
                    <a:solidFill>
                      <a:srgbClr val="FFFFFF"/>
                    </a:solidFill>
                  </a:tcPr>
                </a:tc>
                <a:tc>
                  <a:txBody>
                    <a:bodyPr wrap="square"/>
                    <a:lstStyle/>
                    <a:p>
                      <a:pPr algn="l"/>
                      <a:r>
                        <a:rPr sz="1200" b="0" i="0">
                          <a:solidFill>
                            <a:srgbClr val="333333"/>
                          </a:solidFill>
                          <a:latin typeface="Calibri"/>
                        </a:rPr>
                        <a:t>0.0050 → 0.0324 (×6.5)</a:t>
                      </a:r>
                    </a:p>
                  </a:txBody>
                  <a:tcPr anchor="ctr" marT="38100" marB="38100" marL="76200" marR="76200">
                    <a:solidFill>
                      <a:srgbClr val="FFFFFF"/>
                    </a:solidFill>
                  </a:tcPr>
                </a:tc>
                <a:tc>
                  <a:txBody>
                    <a:bodyPr wrap="square"/>
                    <a:lstStyle/>
                    <a:p>
                      <a:pPr algn="ctr"/>
                      <a:r>
                        <a:rPr sz="1400" b="1" i="0">
                          <a:solidFill>
                            <a:srgbClr val="1E7B34"/>
                          </a:solidFill>
                          <a:latin typeface="Calibri"/>
                        </a:rPr>
                        <a:t>✅</a:t>
                      </a:r>
                    </a:p>
                  </a:txBody>
                  <a:tcPr anchor="ctr" marT="38100" marB="38100" marL="76200" marR="76200">
                    <a:solidFill>
                      <a:srgbClr val="FFFFFF"/>
                    </a:solidFill>
                  </a:tcPr>
                </a:tc>
              </a:tr>
              <a:tr h="391885">
                <a:tc>
                  <a:txBody>
                    <a:bodyPr wrap="square"/>
                    <a:lstStyle/>
                    <a:p>
                      <a:pPr algn="l"/>
                      <a:r>
                        <a:rPr sz="1200" b="0" i="0">
                          <a:solidFill>
                            <a:srgbClr val="333333"/>
                          </a:solidFill>
                          <a:latin typeface="Calibri"/>
                        </a:rPr>
                        <a:t>Coverage@20 tăng</a:t>
                      </a:r>
                    </a:p>
                  </a:txBody>
                  <a:tcPr anchor="ctr" marT="38100" marB="38100" marL="76200" marR="76200">
                    <a:solidFill>
                      <a:srgbClr val="F4F7FB"/>
                    </a:solidFill>
                  </a:tcPr>
                </a:tc>
                <a:tc>
                  <a:txBody>
                    <a:bodyPr wrap="square"/>
                    <a:lstStyle/>
                    <a:p>
                      <a:pPr algn="l"/>
                      <a:r>
                        <a:rPr sz="1200" b="0" i="0">
                          <a:solidFill>
                            <a:srgbClr val="333333"/>
                          </a:solidFill>
                          <a:latin typeface="Calibri"/>
                        </a:rPr>
                        <a:t>0.398 → 0.538 (+35%)</a:t>
                      </a:r>
                    </a:p>
                  </a:txBody>
                  <a:tcPr anchor="ctr" marT="38100" marB="38100" marL="76200" marR="76200">
                    <a:solidFill>
                      <a:srgbClr val="F4F7FB"/>
                    </a:solidFill>
                  </a:tcPr>
                </a:tc>
                <a:tc>
                  <a:txBody>
                    <a:bodyPr wrap="square"/>
                    <a:lstStyle/>
                    <a:p>
                      <a:pPr algn="ctr"/>
                      <a:r>
                        <a:rPr sz="1400" b="1" i="0">
                          <a:solidFill>
                            <a:srgbClr val="1E7B34"/>
                          </a:solidFill>
                          <a:latin typeface="Calibri"/>
                        </a:rPr>
                        <a:t>✅</a:t>
                      </a:r>
                    </a:p>
                  </a:txBody>
                  <a:tcPr anchor="ctr" marT="38100" marB="38100" marL="76200" marR="76200">
                    <a:solidFill>
                      <a:srgbClr val="F4F7FB"/>
                    </a:solidFill>
                  </a:tcPr>
                </a:tc>
              </a:tr>
              <a:tr h="391885">
                <a:tc>
                  <a:txBody>
                    <a:bodyPr wrap="square"/>
                    <a:lstStyle/>
                    <a:p>
                      <a:pPr algn="l"/>
                      <a:r>
                        <a:rPr sz="1200" b="0" i="0">
                          <a:solidFill>
                            <a:srgbClr val="333333"/>
                          </a:solidFill>
                          <a:latin typeface="Calibri"/>
                        </a:rPr>
                        <a:t>ARP@20 giảm</a:t>
                      </a:r>
                    </a:p>
                  </a:txBody>
                  <a:tcPr anchor="ctr" marT="38100" marB="38100" marL="76200" marR="76200">
                    <a:solidFill>
                      <a:srgbClr val="FFFFFF"/>
                    </a:solidFill>
                  </a:tcPr>
                </a:tc>
                <a:tc>
                  <a:txBody>
                    <a:bodyPr wrap="square"/>
                    <a:lstStyle/>
                    <a:p>
                      <a:pPr algn="l"/>
                      <a:r>
                        <a:rPr sz="1200" b="0" i="0">
                          <a:solidFill>
                            <a:srgbClr val="333333"/>
                          </a:solidFill>
                          <a:latin typeface="Calibri"/>
                        </a:rPr>
                        <a:t>6.833 → 6.400 (−6.3%)</a:t>
                      </a:r>
                    </a:p>
                  </a:txBody>
                  <a:tcPr anchor="ctr" marT="38100" marB="38100" marL="76200" marR="76200">
                    <a:solidFill>
                      <a:srgbClr val="FFFFFF"/>
                    </a:solidFill>
                  </a:tcPr>
                </a:tc>
                <a:tc>
                  <a:txBody>
                    <a:bodyPr wrap="square"/>
                    <a:lstStyle/>
                    <a:p>
                      <a:pPr algn="ctr"/>
                      <a:r>
                        <a:rPr sz="1400" b="1" i="0">
                          <a:solidFill>
                            <a:srgbClr val="1E7B34"/>
                          </a:solidFill>
                          <a:latin typeface="Calibri"/>
                        </a:rPr>
                        <a:t>✅</a:t>
                      </a:r>
                    </a:p>
                  </a:txBody>
                  <a:tcPr anchor="ctr" marT="38100" marB="38100" marL="76200" marR="76200">
                    <a:solidFill>
                      <a:srgbClr val="FFFFFF"/>
                    </a:solidFill>
                  </a:tcPr>
                </a:tc>
              </a:tr>
              <a:tr h="391885">
                <a:tc>
                  <a:txBody>
                    <a:bodyPr wrap="square"/>
                    <a:lstStyle/>
                    <a:p>
                      <a:pPr algn="l"/>
                      <a:r>
                        <a:rPr sz="1200" b="0" i="0">
                          <a:solidFill>
                            <a:srgbClr val="333333"/>
                          </a:solidFill>
                          <a:latin typeface="Calibri"/>
                        </a:rPr>
                        <a:t>HeadExposure@20 giảm</a:t>
                      </a:r>
                    </a:p>
                  </a:txBody>
                  <a:tcPr anchor="ctr" marT="38100" marB="38100" marL="76200" marR="76200">
                    <a:solidFill>
                      <a:srgbClr val="F4F7FB"/>
                    </a:solidFill>
                  </a:tcPr>
                </a:tc>
                <a:tc>
                  <a:txBody>
                    <a:bodyPr wrap="square"/>
                    <a:lstStyle/>
                    <a:p>
                      <a:pPr algn="l"/>
                      <a:r>
                        <a:rPr sz="1200" b="0" i="0">
                          <a:solidFill>
                            <a:srgbClr val="333333"/>
                          </a:solidFill>
                          <a:latin typeface="Calibri"/>
                        </a:rPr>
                        <a:t>0.9587 → 0.8826 (−7.9%)</a:t>
                      </a:r>
                    </a:p>
                  </a:txBody>
                  <a:tcPr anchor="ctr" marT="38100" marB="38100" marL="76200" marR="76200">
                    <a:solidFill>
                      <a:srgbClr val="F4F7FB"/>
                    </a:solidFill>
                  </a:tcPr>
                </a:tc>
                <a:tc>
                  <a:txBody>
                    <a:bodyPr wrap="square"/>
                    <a:lstStyle/>
                    <a:p>
                      <a:pPr algn="ctr"/>
                      <a:r>
                        <a:rPr sz="1400" b="1" i="0">
                          <a:solidFill>
                            <a:srgbClr val="1E7B34"/>
                          </a:solidFill>
                          <a:latin typeface="Calibri"/>
                        </a:rPr>
                        <a:t>✅</a:t>
                      </a:r>
                    </a:p>
                  </a:txBody>
                  <a:tcPr anchor="ctr" marT="38100" marB="38100" marL="76200" marR="76200">
                    <a:solidFill>
                      <a:srgbClr val="F4F7FB"/>
                    </a:solidFill>
                  </a:tcPr>
                </a:tc>
              </a:tr>
              <a:tr h="391885">
                <a:tc>
                  <a:txBody>
                    <a:bodyPr wrap="square"/>
                    <a:lstStyle/>
                    <a:p>
                      <a:pPr algn="l"/>
                      <a:r>
                        <a:rPr sz="1200" b="0" i="0">
                          <a:solidFill>
                            <a:srgbClr val="333333"/>
                          </a:solidFill>
                          <a:latin typeface="Calibri"/>
                        </a:rPr>
                        <a:t>Recall/NDCG không giảm mạnh (≤5%)</a:t>
                      </a:r>
                    </a:p>
                  </a:txBody>
                  <a:tcPr anchor="ctr" marT="38100" marB="38100" marL="76200" marR="76200">
                    <a:solidFill>
                      <a:srgbClr val="FFFFFF"/>
                    </a:solidFill>
                  </a:tcPr>
                </a:tc>
                <a:tc>
                  <a:txBody>
                    <a:bodyPr wrap="square"/>
                    <a:lstStyle/>
                    <a:p>
                      <a:pPr algn="l"/>
                      <a:r>
                        <a:rPr sz="1200" b="0" i="0">
                          <a:solidFill>
                            <a:srgbClr val="333333"/>
                          </a:solidFill>
                          <a:latin typeface="Calibri"/>
                        </a:rPr>
                        <a:t>Recall +4.0%, NDCG tăng nhẹ</a:t>
                      </a:r>
                    </a:p>
                  </a:txBody>
                  <a:tcPr anchor="ctr" marT="38100" marB="38100" marL="76200" marR="76200">
                    <a:solidFill>
                      <a:srgbClr val="FFFFFF"/>
                    </a:solidFill>
                  </a:tcPr>
                </a:tc>
                <a:tc>
                  <a:txBody>
                    <a:bodyPr wrap="square"/>
                    <a:lstStyle/>
                    <a:p>
                      <a:pPr algn="ctr"/>
                      <a:r>
                        <a:rPr sz="1400" b="1" i="0">
                          <a:solidFill>
                            <a:srgbClr val="1E7B34"/>
                          </a:solidFill>
                          <a:latin typeface="Calibri"/>
                        </a:rPr>
                        <a:t>✅</a:t>
                      </a:r>
                    </a:p>
                  </a:txBody>
                  <a:tcPr anchor="ctr" marT="38100" marB="38100" marL="76200" marR="76200">
                    <a:solidFill>
                      <a:srgbClr val="FFFFFF"/>
                    </a:solidFill>
                  </a:tcPr>
                </a:tc>
              </a:tr>
              <a:tr h="391890">
                <a:tc>
                  <a:txBody>
                    <a:bodyPr wrap="square"/>
                    <a:lstStyle/>
                    <a:p>
                      <a:pPr algn="l"/>
                      <a:r>
                        <a:rPr sz="1200" b="0" i="0">
                          <a:solidFill>
                            <a:srgbClr val="333333"/>
                          </a:solidFill>
                          <a:latin typeface="Calibri"/>
                        </a:rPr>
                        <a:t>TailRecall “chấp nhận được”</a:t>
                      </a:r>
                    </a:p>
                  </a:txBody>
                  <a:tcPr anchor="ctr" marT="38100" marB="38100" marL="76200" marR="76200">
                    <a:solidFill>
                      <a:srgbClr val="F4F7FB"/>
                    </a:solidFill>
                  </a:tcPr>
                </a:tc>
                <a:tc>
                  <a:txBody>
                    <a:bodyPr wrap="square"/>
                    <a:lstStyle/>
                    <a:p>
                      <a:pPr algn="l"/>
                      <a:r>
                        <a:rPr sz="1200" b="0" i="0">
                          <a:solidFill>
                            <a:srgbClr val="333333"/>
                          </a:solidFill>
                          <a:latin typeface="Calibri"/>
                        </a:rPr>
                        <a:t>×6.5 baseline, không cực đoan như high-tail</a:t>
                      </a:r>
                    </a:p>
                  </a:txBody>
                  <a:tcPr anchor="ctr" marT="38100" marB="38100" marL="76200" marR="76200">
                    <a:solidFill>
                      <a:srgbClr val="F4F7FB"/>
                    </a:solidFill>
                  </a:tcPr>
                </a:tc>
                <a:tc>
                  <a:txBody>
                    <a:bodyPr wrap="square"/>
                    <a:lstStyle/>
                    <a:p>
                      <a:pPr algn="ctr"/>
                      <a:r>
                        <a:rPr sz="1400" b="1" i="0">
                          <a:solidFill>
                            <a:srgbClr val="1E7B34"/>
                          </a:solidFill>
                          <a:latin typeface="Calibri"/>
                        </a:rPr>
                        <a:t>✅</a:t>
                      </a:r>
                    </a:p>
                  </a:txBody>
                  <a:tcPr anchor="ctr" marT="38100" marB="38100" marL="76200" marR="76200">
                    <a:solidFill>
                      <a:srgbClr val="F4F7FB"/>
                    </a:solidFill>
                  </a:tcPr>
                </a:tc>
              </a:tr>
            </a:tbl>
          </a:graphicData>
        </a:graphic>
      </p:graphicFrame>
      <p:sp>
        <p:nvSpPr>
          <p:cNvPr id="5" name="Rounded Rectangle 4"/>
          <p:cNvSpPr/>
          <p:nvPr/>
        </p:nvSpPr>
        <p:spPr>
          <a:xfrm>
            <a:off x="411480" y="4297680"/>
            <a:ext cx="11384280" cy="502920"/>
          </a:xfrm>
          <a:prstGeom prst="roundRect">
            <a:avLst/>
          </a:prstGeom>
          <a:solidFill>
            <a:srgbClr val="E6F4EA"/>
          </a:solidFill>
          <a:ln w="15875">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a:lstStyle/>
          <a:p>
            <a:pPr algn="ctr"/>
            <a:r>
              <a:rPr sz="1400" b="1" i="0">
                <a:solidFill>
                  <a:srgbClr val="1E7B34"/>
                </a:solidFill>
                <a:latin typeface="Calibri"/>
              </a:rPr>
              <a:t>6/6 tiêu chí đạt tại PopAware-BEST — có ý nghĩa thống kê qua 3 seed, không dựa trên 1 lần chạy</a:t>
            </a:r>
          </a:p>
        </p:txBody>
      </p:sp>
      <p:sp>
        <p:nvSpPr>
          <p:cNvPr id="6" name="TextBox 5"/>
          <p:cNvSpPr txBox="1"/>
          <p:nvPr/>
        </p:nvSpPr>
        <p:spPr>
          <a:xfrm>
            <a:off x="411480" y="4983480"/>
            <a:ext cx="5486400" cy="274320"/>
          </a:xfrm>
          <a:prstGeom prst="rect">
            <a:avLst/>
          </a:prstGeom>
          <a:noFill/>
        </p:spPr>
        <p:txBody>
          <a:bodyPr wrap="none">
            <a:spAutoFit/>
          </a:bodyPr>
          <a:lstStyle/>
          <a:p>
            <a:r>
              <a:rPr sz="1350" b="1" i="0">
                <a:solidFill>
                  <a:srgbClr val="B55B0A"/>
                </a:solidFill>
                <a:latin typeface="Calibri"/>
              </a:rPr>
              <a:t>Nhìn thẳng — giới hạn còn lại:</a:t>
            </a:r>
          </a:p>
        </p:txBody>
      </p:sp>
      <p:sp>
        <p:nvSpPr>
          <p:cNvPr id="7" name="TextBox 6"/>
          <p:cNvSpPr txBox="1"/>
          <p:nvPr/>
        </p:nvSpPr>
        <p:spPr>
          <a:xfrm>
            <a:off x="411480" y="5303520"/>
            <a:ext cx="11384280" cy="1371600"/>
          </a:xfrm>
          <a:prstGeom prst="rect">
            <a:avLst/>
          </a:prstGeom>
          <a:noFill/>
        </p:spPr>
        <p:txBody>
          <a:bodyPr wrap="square">
            <a:spAutoFit/>
          </a:bodyPr>
          <a:lstStyle/>
          <a:p>
            <a:pPr>
              <a:spcAft>
                <a:spcPts val="400"/>
              </a:spcAft>
            </a:pPr>
            <a:r>
              <a:rPr sz="1300" b="0" i="0">
                <a:solidFill>
                  <a:srgbClr val="333333"/>
                </a:solidFill>
                <a:latin typeface="Calibri"/>
              </a:rPr>
              <a:t>— Degree-Aware Augmentation và Contrastive Learning dùng chung tín hiệu degree → đóng góp riêng chưa tách bạch.</a:t>
            </a:r>
          </a:p>
          <a:p>
            <a:pPr>
              <a:spcAft>
                <a:spcPts val="400"/>
              </a:spcAft>
            </a:pPr>
            <a:r>
              <a:rPr sz="1300" b="0" i="0">
                <a:solidFill>
                  <a:srgbClr val="333333"/>
                </a:solidFill>
                <a:latin typeface="Calibri"/>
              </a:rPr>
              <a:t>— Coverage@20 tại điểm balanced (0.538) vẫn thấp hơn BPR-MF (0.628).</a:t>
            </a:r>
          </a:p>
          <a:p>
            <a:pPr>
              <a:spcAft>
                <a:spcPts val="400"/>
              </a:spcAft>
            </a:pPr>
            <a:r>
              <a:rPr sz="1300" b="0" i="0">
                <a:solidFill>
                  <a:srgbClr val="333333"/>
                </a:solidFill>
                <a:latin typeface="Calibri"/>
              </a:rPr>
              <a:t>— TailRecall tuyệt đối còn nhỏ (~0.03) → nên hiểu là “giảm đáng kể bias”, chưa phải “giải quyết” long-tail.</a:t>
            </a:r>
          </a:p>
        </p:txBody>
      </p:sp>
      <p:sp>
        <p:nvSpPr>
          <p:cNvPr id="8" name="TextBox 7"/>
          <p:cNvSpPr txBox="1"/>
          <p:nvPr/>
        </p:nvSpPr>
        <p:spPr>
          <a:xfrm>
            <a:off x="11475720" y="6583680"/>
            <a:ext cx="548640" cy="256032"/>
          </a:xfrm>
          <a:prstGeom prst="rect">
            <a:avLst/>
          </a:prstGeom>
          <a:noFill/>
        </p:spPr>
        <p:txBody>
          <a:bodyPr wrap="none">
            <a:spAutoFit/>
          </a:bodyPr>
          <a:lstStyle/>
          <a:p>
            <a:r>
              <a:rPr sz="1100" b="0" i="0">
                <a:solidFill>
                  <a:srgbClr val="888888"/>
                </a:solidFill>
                <a:latin typeface="Calibri"/>
              </a:rPr>
              <a:t>13</a:t>
            </a:r>
          </a:p>
        </p:txBody>
      </p:sp>
      <p:sp>
        <p:nvSpPr>
          <p:cNvPr id="9" name="TextBox 8"/>
          <p:cNvSpPr txBox="1"/>
          <p:nvPr/>
        </p:nvSpPr>
        <p:spPr>
          <a:xfrm>
            <a:off x="502920" y="6583680"/>
            <a:ext cx="3657600" cy="256032"/>
          </a:xfrm>
          <a:prstGeom prst="rect">
            <a:avLst/>
          </a:prstGeom>
          <a:noFill/>
        </p:spPr>
        <p:txBody>
          <a:bodyPr wrap="none">
            <a:spAutoFit/>
          </a:bodyPr>
          <a:lstStyle/>
          <a:p>
            <a:r>
              <a:rPr sz="1100" b="0" i="1">
                <a:solidFill>
                  <a:srgbClr val="999999"/>
                </a:solidFill>
                <a:latin typeface="Calibri"/>
              </a:rPr>
              <a:t>Popularity-Aware LightGCN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
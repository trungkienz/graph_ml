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High-level map of the method: a LightGCN backbone plus four independently-toggleable components (use_ile, aug_main, use_cl, neg_pop_beta), trained jointly, with model selection on VAL only and TEST scored exactly once. Detailed mechanism, equations and diagrams for each component are on slides 6-9; this slide is intentionally kept simple as a map, not a full specification.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History note (not on slide): an earlier version used head_loss - tail_loss without squaring, which was unsigned/unbounded and pushed the model further toward popularity bias instead of reducing it. Fixed by squaring the gap, exactly as shown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Mechanism evidence: increasing lambda_CL in the sweep monotonically increases Coverage@20 - consistent with a healthy regularizer, not a coincidence. Limitation to flag in Q&amp;A: because (2) and (3) share the same drop-probability signal, their individual contributions are not fully disentangled in the current ablation (see slide 13). A standalone aug_main=True run exists in train_all_popaware.py (single seed, not in the headline table) as a first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beta=0 recovers exactly the original uniform sampler, so this is a safe extension: turning it off changes nothing. Note for Q&amp;A: beta's effect on TailRecall/Coverage is NOT cleanly monotonic across the full sweep (checked all 12 matched pairs) - its main verified effect is trading some TailRecall for Coverage at fixed lambda_ILE/lambda_CL, not a uniform improvement on every axis. lambda_ILE's effect on TailRecall, by contrast, IS monotonic across all 8 matched triples in the sweep.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infrastructure is what makes the reported numbers trustworthy: no leakage between train/val/test, and every run can be stopped, resumed, and audited from its log + history 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table used by train_final_seeds.py. The full 24-point sweep lives in results/popaware_sweep_20260715_155058.csv.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results/popaware_final_meanstd_20260715_174317.csv (PopAware, 3 seeds) and results/metrics/main_results.csv (LightGCN baseline reference, 1 run).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Coordinates read directly from results/metrics/main_results.csv (MostPopular, BPR-MF, LightGCN) and results/popaware_final_meanstd_20260715_174317.csv (PopAware, mean of 3 seeds) — not a qualitative illustration.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Vs. BPR-MF (a strong, naturally fairer baseline): BEST still wins on Recall, TailRecall (x2.4), and ARP; only loses on Coverage. The fairness configuration dominates BPR-MF on every fairness axis.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2E74B5"/>
                </a:solidFill>
                <a:latin typeface="Arial"/>
              </a:rPr>
              <a:t>PROPOSED METHOD</a:t>
            </a:r>
          </a:p>
          <a:p>
            <a:r>
              <a:rPr sz="2600" b="1" i="0">
                <a:solidFill>
                  <a:srgbClr val="1F4E79"/>
                </a:solidFill>
                <a:latin typeface="Arial"/>
              </a:rPr>
              <a:t>Popularity-Aware LightGCN — Method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11155680" cy="279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045" y="1325880"/>
            <a:ext cx="8851604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75720" y="6583680"/>
            <a:ext cx="548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888888"/>
                </a:solidFill>
                <a:latin typeface="Arial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1">
                <a:solidFill>
                  <a:srgbClr val="999999"/>
                </a:solidFill>
                <a:latin typeface="Arial"/>
              </a:rPr>
              <a:t>Popularity-Aware LightGCN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2E74B5"/>
                </a:solidFill>
                <a:latin typeface="Arial"/>
              </a:rPr>
              <a:t>COMPONENT 1 / 4</a:t>
            </a:r>
          </a:p>
          <a:p>
            <a:r>
              <a:rPr sz="2600" b="1" i="0">
                <a:solidFill>
                  <a:srgbClr val="1F4E79"/>
                </a:solidFill>
                <a:latin typeface="Arial"/>
              </a:rPr>
              <a:t>Item Loss Equalization (ILE)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11155680" cy="279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67" y="1417320"/>
            <a:ext cx="11338560" cy="362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084064"/>
            <a:ext cx="108813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 i="1">
                <a:solidFill>
                  <a:srgbClr val="888888"/>
                </a:solidFill>
                <a:latin typeface="Arial"/>
              </a:rPr>
              <a:t>Schematic illustration of the mechanism — not measured training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4924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1" i="0">
                <a:solidFill>
                  <a:srgbClr val="1F4E79"/>
                </a:solidFill>
                <a:latin typeface="Arial"/>
              </a:rPr>
              <a:t>– Popularity groups</a:t>
            </a:r>
            <a:r>
              <a:rPr sz="1450" b="0" i="0">
                <a:solidFill>
                  <a:srgbClr val="333333"/>
                </a:solidFill>
                <a:latin typeface="Arial"/>
              </a:rPr>
              <a:t> defined by training-degree percentile: tail &lt;P50, middle P50–P80, head &gt;P80.</a:t>
            </a:r>
          </a:p>
          <a:p>
            <a:pPr>
              <a:spcAft>
                <a:spcPts val="600"/>
              </a:spcAft>
            </a:pPr>
            <a:r>
              <a:rPr sz="1450" b="1" i="0">
                <a:solidFill>
                  <a:srgbClr val="1F4E79"/>
                </a:solidFill>
                <a:latin typeface="Arial"/>
              </a:rPr>
              <a:t>– Computed only</a:t>
            </a:r>
            <a:r>
              <a:rPr sz="1450" b="0" i="0">
                <a:solidFill>
                  <a:srgbClr val="333333"/>
                </a:solidFill>
                <a:latin typeface="Arial"/>
              </a:rPr>
              <a:t> when a batch contains both a head item and a tail item.</a:t>
            </a:r>
          </a:p>
          <a:p>
            <a:pPr>
              <a:spcAft>
                <a:spcPts val="600"/>
              </a:spcAft>
            </a:pPr>
            <a:r>
              <a:rPr sz="1450" b="1" i="0">
                <a:solidFill>
                  <a:srgbClr val="1F4E79"/>
                </a:solidFill>
                <a:latin typeface="Arial"/>
              </a:rPr>
              <a:t>– Squared penalty</a:t>
            </a:r>
            <a:r>
              <a:rPr sz="1450" b="0" i="0">
                <a:solidFill>
                  <a:srgbClr val="333333"/>
                </a:solidFill>
                <a:latin typeface="Arial"/>
              </a:rPr>
              <a:t> → always ≥ 0, no sign flip → minimizing it pulls tail loss down toward head loss.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83680"/>
            <a:ext cx="548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888888"/>
                </a:solidFill>
                <a:latin typeface="Arial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1">
                <a:solidFill>
                  <a:srgbClr val="999999"/>
                </a:solidFill>
                <a:latin typeface="Arial"/>
              </a:rPr>
              <a:t>Popularity-Aware LightGCN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2E74B5"/>
                </a:solidFill>
                <a:latin typeface="Arial"/>
              </a:rPr>
              <a:t>COMPONENTS 2 &amp; 3 / 4</a:t>
            </a:r>
          </a:p>
          <a:p>
            <a:r>
              <a:rPr sz="2600" b="1" i="0">
                <a:solidFill>
                  <a:srgbClr val="1F4E79"/>
                </a:solidFill>
                <a:latin typeface="Arial"/>
              </a:rPr>
              <a:t>Degree-Aware Augmentation + Contrastive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11155680" cy="279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ug_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740" y="1280160"/>
            <a:ext cx="10228214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44068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 i="0">
                <a:solidFill>
                  <a:srgbClr val="333333"/>
                </a:solidFill>
                <a:latin typeface="Arial"/>
              </a:rPr>
              <a:t>– Both components reuse the same degree-based drop signal to build two augmented graph views — they are not independent regularizers stacked for safety.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333333"/>
                </a:solidFill>
                <a:latin typeface="Arial"/>
              </a:rPr>
              <a:t>– τ and λ_CL control how strongly embeddings of the same node are pulled together across views.</a:t>
            </a:r>
          </a:p>
          <a:p>
            <a:pPr>
              <a:spcAft>
                <a:spcPts val="300"/>
              </a:spcAft>
            </a:pPr>
            <a:r>
              <a:rPr sz="1200" b="1" i="0">
                <a:solidFill>
                  <a:srgbClr val="1F4E79"/>
                </a:solidFill>
                <a:latin typeface="Arial"/>
              </a:rPr>
              <a:t>– Scope note: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in every reported result, this dropout only builds the two CL views — the main graph used for final scoring is never modified (aug_main=False).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83680"/>
            <a:ext cx="548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888888"/>
                </a:solidFill>
                <a:latin typeface="Arial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1">
                <a:solidFill>
                  <a:srgbClr val="999999"/>
                </a:solidFill>
                <a:latin typeface="Arial"/>
              </a:rPr>
              <a:t>Popularity-Aware LightGCN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2E74B5"/>
                </a:solidFill>
                <a:latin typeface="Arial"/>
              </a:rPr>
              <a:t>COMPONENT 4 / 4</a:t>
            </a:r>
          </a:p>
          <a:p>
            <a:r>
              <a:rPr sz="2600" b="1" i="0">
                <a:solidFill>
                  <a:srgbClr val="1F4E79"/>
                </a:solidFill>
                <a:latin typeface="Arial"/>
              </a:rPr>
              <a:t>Popularity-aware Negative Sampling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11155680" cy="279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egsa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1554480"/>
            <a:ext cx="11155680" cy="30213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84632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 i="0">
                <a:solidFill>
                  <a:srgbClr val="1F4E79"/>
                </a:solidFill>
                <a:latin typeface="Arial"/>
              </a:rPr>
              <a:t>– Positives</a:t>
            </a:r>
            <a:r>
              <a:rPr sz="1350" b="0" i="0">
                <a:solidFill>
                  <a:srgbClr val="333333"/>
                </a:solidFill>
                <a:latin typeface="Arial"/>
              </a:rPr>
              <a:t> are still drawn uniformly from train edges — only the negative distribution changes.</a:t>
            </a:r>
          </a:p>
          <a:p>
            <a:pPr>
              <a:spcAft>
                <a:spcPts val="500"/>
              </a:spcAft>
            </a:pPr>
            <a:r>
              <a:rPr sz="1350" b="1" i="0">
                <a:solidFill>
                  <a:srgbClr val="1F4E79"/>
                </a:solidFill>
                <a:latin typeface="Arial"/>
              </a:rPr>
              <a:t>– β</a:t>
            </a:r>
            <a:r>
              <a:rPr sz="1350" b="0" i="0">
                <a:solidFill>
                  <a:srgbClr val="333333"/>
                </a:solidFill>
                <a:latin typeface="Arial"/>
              </a:rPr>
              <a:t> controls how strongly popular items are penalized as negatives (experiments use β ∈ {0, 0.5}).</a:t>
            </a:r>
          </a:p>
          <a:p>
            <a:pPr>
              <a:spcAft>
                <a:spcPts val="500"/>
              </a:spcAft>
            </a:pPr>
            <a:r>
              <a:rPr sz="1350" b="1" i="0">
                <a:solidFill>
                  <a:srgbClr val="1F4E79"/>
                </a:solidFill>
                <a:latin typeface="Arial"/>
              </a:rPr>
              <a:t>– BEST vs. high-tail</a:t>
            </a:r>
            <a:r>
              <a:rPr sz="1350" b="0" i="0">
                <a:solidFill>
                  <a:srgbClr val="333333"/>
                </a:solidFill>
                <a:latin typeface="Arial"/>
              </a:rPr>
              <a:t> (same λ_ILE=1.0, λ_CL=0.1, only β differs): β=0.5 trades a little TailRecall (0.040→0.032) for higher Coverage (0.499→0.538) — β shifts the operating point rather than uniformly improving every bias metric.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83680"/>
            <a:ext cx="548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888888"/>
                </a:solidFill>
                <a:latin typeface="Arial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1">
                <a:solidFill>
                  <a:srgbClr val="999999"/>
                </a:solidFill>
                <a:latin typeface="Arial"/>
              </a:rPr>
              <a:t>Popularity-Aware LightGCN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2E74B5"/>
                </a:solidFill>
                <a:latin typeface="Arial"/>
              </a:rPr>
              <a:t>TRAINING</a:t>
            </a:r>
          </a:p>
          <a:p>
            <a:r>
              <a:rPr sz="2600" b="1" i="0">
                <a:solidFill>
                  <a:srgbClr val="1F4E79"/>
                </a:solidFill>
                <a:latin typeface="Arial"/>
              </a:rPr>
              <a:t>Joint Objective &amp; Leakage-free Protocol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11155680" cy="279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bje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1417320"/>
            <a:ext cx="11155680" cy="3873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48640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Arial"/>
              </a:rPr>
              <a:t>– All four components toggle independently (use_ile, aug_main, use_cl, neg_pop_beta) — enabling clean per-component ablation.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1F4E79"/>
                </a:solidFill>
                <a:latin typeface="Arial"/>
              </a:rPr>
              <a:t>– Scope of "leakage-free":</a:t>
            </a:r>
            <a:r>
              <a:rPr sz="1300" b="0" i="0">
                <a:solidFill>
                  <a:srgbClr val="333333"/>
                </a:solidFill>
                <a:latin typeface="Arial"/>
              </a:rPr>
              <a:t> guarantees checkpoint selection within a run (VAL) and a single TEST scoring per run. Choosing which λ/β to report used a sweep evaluated on TEST (slide 10) — see limitations, slide 13.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83680"/>
            <a:ext cx="548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888888"/>
                </a:solidFill>
                <a:latin typeface="Arial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1">
                <a:solidFill>
                  <a:srgbClr val="999999"/>
                </a:solidFill>
                <a:latin typeface="Arial"/>
              </a:rPr>
              <a:t>Popularity-Aware LightGCN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2E74B5"/>
                </a:solidFill>
                <a:latin typeface="Arial"/>
              </a:rPr>
              <a:t>EXPERIMENTS</a:t>
            </a:r>
          </a:p>
          <a:p>
            <a:r>
              <a:rPr sz="2600" b="1" i="0">
                <a:solidFill>
                  <a:srgbClr val="1F4E79"/>
                </a:solidFill>
                <a:latin typeface="Arial"/>
              </a:rPr>
              <a:t>Experimental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11155680" cy="279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– Dataset:</a:t>
            </a:r>
            <a:r>
              <a:rPr sz="1400" b="0" i="0">
                <a:solidFill>
                  <a:srgbClr val="333333"/>
                </a:solidFill>
                <a:latin typeface="Arial"/>
              </a:rPr>
              <a:t> MovieLens-1M, rating ≥ 4 as positive, leave-one-out validation/test split per user.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– Backbone:</a:t>
            </a:r>
            <a:r>
              <a:rPr sz="1400" b="0" i="0">
                <a:solidFill>
                  <a:srgbClr val="333333"/>
                </a:solidFill>
                <a:latin typeface="Arial"/>
              </a:rPr>
              <a:t> embedding dim = 64, num_layers = 2 (primary operating point).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– Hyperparameter sweep:</a:t>
            </a:r>
            <a:r>
              <a:rPr sz="1400" b="0" i="0">
                <a:solidFill>
                  <a:srgbClr val="333333"/>
                </a:solidFill>
                <a:latin typeface="Arial"/>
              </a:rPr>
              <a:t> 24 points = num_layers{2,3} × λ_ILE{0.1,0.5,1.0} × λ_CL{0.1,0.5} × β{0,0.5}.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– Operating-point rule:</a:t>
            </a:r>
            <a:r>
              <a:rPr sz="1400" b="0" i="0">
                <a:solidFill>
                  <a:srgbClr val="333333"/>
                </a:solidFill>
                <a:latin typeface="Arial"/>
              </a:rPr>
              <a:t> max Coverage@20 subject to Recall@20 drop ≤ tolerance vs. baseline, evaluated across the sweep (caveat: currently computed on TEST, see slide 13).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– Statistical robustness:</a:t>
            </a:r>
            <a:r>
              <a:rPr sz="1400" b="0" i="0">
                <a:solidFill>
                  <a:srgbClr val="333333"/>
                </a:solidFill>
                <a:latin typeface="Arial"/>
              </a:rPr>
              <a:t> each final configuration trained over 3 seeds {42, 0, 1}; mean ± std reported.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965960" y="3429000"/>
          <a:ext cx="8229600" cy="21945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114800"/>
                <a:gridCol w="1371600"/>
                <a:gridCol w="1371600"/>
                <a:gridCol w="137160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222222"/>
                          </a:solidFill>
                          <a:latin typeface="Arial"/>
                        </a:rPr>
                        <a:t>Configuration (num_layers = 2)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 i="0">
                          <a:solidFill>
                            <a:srgbClr val="222222"/>
                          </a:solidFill>
                          <a:latin typeface="Arial"/>
                        </a:rPr>
                        <a:t>λ_ILE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 i="0">
                          <a:solidFill>
                            <a:srgbClr val="222222"/>
                          </a:solidFill>
                          <a:latin typeface="Arial"/>
                        </a:rPr>
                        <a:t>λ_CL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 i="0">
                          <a:solidFill>
                            <a:srgbClr val="222222"/>
                          </a:solidFill>
                          <a:latin typeface="Arial"/>
                        </a:rPr>
                        <a:t>β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333333"/>
                          </a:solidFill>
                          <a:latin typeface="Arial"/>
                        </a:rPr>
                        <a:t>LightGCN (baseline)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33333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33333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33333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333333"/>
                          </a:solidFill>
                          <a:latin typeface="Arial"/>
                        </a:rPr>
                        <a:t>PopAware-accuracy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333333"/>
                          </a:solidFill>
                          <a:latin typeface="Arial"/>
                        </a:rPr>
                        <a:t>0.1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333333"/>
                          </a:solidFill>
                          <a:latin typeface="Arial"/>
                        </a:rPr>
                        <a:t>0.1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333333"/>
                          </a:solidFill>
                          <a:latin typeface="Arial"/>
                        </a:rPr>
                        <a:t>0.5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1F4E79"/>
                          </a:solidFill>
                          <a:latin typeface="Arial"/>
                        </a:rPr>
                        <a:t>PopAware-BEST</a:t>
                      </a:r>
                    </a:p>
                  </a:txBody>
                  <a:tcPr anchor="ctr" marT="38100" marB="38100" marL="76200" marR="76200">
                    <a:solidFill>
                      <a:srgbClr val="EA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 i="0">
                          <a:solidFill>
                            <a:srgbClr val="1F4E79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anchor="ctr" marT="38100" marB="38100" marL="76200" marR="76200">
                    <a:solidFill>
                      <a:srgbClr val="EA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 i="0">
                          <a:solidFill>
                            <a:srgbClr val="1F4E79"/>
                          </a:solidFill>
                          <a:latin typeface="Arial"/>
                        </a:rPr>
                        <a:t>0.1</a:t>
                      </a:r>
                    </a:p>
                  </a:txBody>
                  <a:tcPr anchor="ctr" marT="38100" marB="38100" marL="76200" marR="76200">
                    <a:solidFill>
                      <a:srgbClr val="EA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 i="0">
                          <a:solidFill>
                            <a:srgbClr val="1F4E79"/>
                          </a:solidFill>
                          <a:latin typeface="Arial"/>
                        </a:rPr>
                        <a:t>0.5</a:t>
                      </a:r>
                    </a:p>
                  </a:txBody>
                  <a:tcPr anchor="ctr" marT="38100" marB="38100" marL="76200" marR="76200">
                    <a:solidFill>
                      <a:srgbClr val="EAF1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333333"/>
                          </a:solidFill>
                          <a:latin typeface="Arial"/>
                        </a:rPr>
                        <a:t>PopAware-high-tail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333333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333333"/>
                          </a:solidFill>
                          <a:latin typeface="Arial"/>
                        </a:rPr>
                        <a:t>0.1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33333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333333"/>
                          </a:solidFill>
                          <a:latin typeface="Arial"/>
                        </a:rPr>
                        <a:t>PopAware-fairness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333333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333333"/>
                          </a:solidFill>
                          <a:latin typeface="Arial"/>
                        </a:rPr>
                        <a:t>0.5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33333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965960" y="3429000"/>
            <a:ext cx="8229600" cy="222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65960" y="3794760"/>
            <a:ext cx="8229600" cy="1587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65960" y="5623560"/>
            <a:ext cx="8229600" cy="222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75720" y="6583680"/>
            <a:ext cx="548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888888"/>
                </a:solidFill>
                <a:latin typeface="Arial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83680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1">
                <a:solidFill>
                  <a:srgbClr val="999999"/>
                </a:solidFill>
                <a:latin typeface="Arial"/>
              </a:rPr>
              <a:t>Popularity-Aware LightGCN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2E74B5"/>
                </a:solidFill>
                <a:latin typeface="Arial"/>
              </a:rPr>
              <a:t>RESULTS</a:t>
            </a:r>
          </a:p>
          <a:p>
            <a:r>
              <a:rPr sz="2600" b="1" i="0">
                <a:solidFill>
                  <a:srgbClr val="1F4E79"/>
                </a:solidFill>
                <a:latin typeface="Arial"/>
              </a:rPr>
              <a:t>Main Results (mean ± std over 3 seeds, K=20)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11155680" cy="279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417320"/>
          <a:ext cx="11384280" cy="21945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48840"/>
                <a:gridCol w="1554480"/>
                <a:gridCol w="1508760"/>
                <a:gridCol w="1691640"/>
                <a:gridCol w="1600200"/>
                <a:gridCol w="1371600"/>
                <a:gridCol w="150876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222222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222222"/>
                          </a:solidFill>
                          <a:latin typeface="Arial"/>
                        </a:rPr>
                        <a:t>Recall@20 ↑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222222"/>
                          </a:solidFill>
                          <a:latin typeface="Arial"/>
                        </a:rPr>
                        <a:t>NDCG@20 ↑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222222"/>
                          </a:solidFill>
                          <a:latin typeface="Arial"/>
                        </a:rPr>
                        <a:t>TailRecall@20 ↑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222222"/>
                          </a:solidFill>
                          <a:latin typeface="Arial"/>
                        </a:rPr>
                        <a:t>Coverage@20 ↑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222222"/>
                          </a:solidFill>
                          <a:latin typeface="Arial"/>
                        </a:rPr>
                        <a:t>ARP@20 ↓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222222"/>
                          </a:solidFill>
                          <a:latin typeface="Arial"/>
                        </a:rPr>
                        <a:t>HeadExp@20 ↓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LightGCN (baseline)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0.1287±0.0005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0.0497±0.0002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0.0050±0.0009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0.3978±0.0043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6.833±0.009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0.9587±0.0006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PopAware-accuracy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0.1367±0.0035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0.0527±0.0006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0.0143±0.0023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0.4619±0.0289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6.500±0.051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0.9171±0.0144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4E79"/>
                          </a:solidFill>
                          <a:latin typeface="Arial"/>
                        </a:rPr>
                        <a:t>PopAware-BEST</a:t>
                      </a:r>
                    </a:p>
                  </a:txBody>
                  <a:tcPr anchor="ctr" marT="38100" marB="38100" marL="76200" marR="76200">
                    <a:solidFill>
                      <a:srgbClr val="EA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F4E79"/>
                          </a:solidFill>
                          <a:latin typeface="Arial"/>
                        </a:rPr>
                        <a:t>0.1338±0.0030</a:t>
                      </a:r>
                    </a:p>
                  </a:txBody>
                  <a:tcPr anchor="ctr" marT="38100" marB="38100" marL="76200" marR="76200">
                    <a:solidFill>
                      <a:srgbClr val="EA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F4E79"/>
                          </a:solidFill>
                          <a:latin typeface="Arial"/>
                        </a:rPr>
                        <a:t>0.0518±0.0004</a:t>
                      </a:r>
                    </a:p>
                  </a:txBody>
                  <a:tcPr anchor="ctr" marT="38100" marB="38100" marL="76200" marR="76200">
                    <a:solidFill>
                      <a:srgbClr val="EA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F4E79"/>
                          </a:solidFill>
                          <a:latin typeface="Arial"/>
                        </a:rPr>
                        <a:t>0.0324±0.0049</a:t>
                      </a:r>
                    </a:p>
                  </a:txBody>
                  <a:tcPr anchor="ctr" marT="38100" marB="38100" marL="76200" marR="76200">
                    <a:solidFill>
                      <a:srgbClr val="EA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F4E79"/>
                          </a:solidFill>
                          <a:latin typeface="Arial"/>
                        </a:rPr>
                        <a:t>0.5384±0.0293</a:t>
                      </a:r>
                    </a:p>
                  </a:txBody>
                  <a:tcPr anchor="ctr" marT="38100" marB="38100" marL="76200" marR="76200">
                    <a:solidFill>
                      <a:srgbClr val="EA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F4E79"/>
                          </a:solidFill>
                          <a:latin typeface="Arial"/>
                        </a:rPr>
                        <a:t>6.400±0.042</a:t>
                      </a:r>
                    </a:p>
                  </a:txBody>
                  <a:tcPr anchor="ctr" marT="38100" marB="38100" marL="76200" marR="76200">
                    <a:solidFill>
                      <a:srgbClr val="EA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F4E79"/>
                          </a:solidFill>
                          <a:latin typeface="Arial"/>
                        </a:rPr>
                        <a:t>0.8826±0.0114</a:t>
                      </a:r>
                    </a:p>
                  </a:txBody>
                  <a:tcPr anchor="ctr" marT="38100" marB="38100" marL="76200" marR="76200">
                    <a:solidFill>
                      <a:srgbClr val="EAF1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PopAware-high-tail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0.1352±0.0020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0.0524±0.0004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0.0399±0.0023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0.4990±0.0099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6.564±0.008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0.9117±0.0005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PopAware-fairness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0.1052±0.0039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0.0415±0.0011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0.0274±0.0035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0.7135±0.0027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6.138±0.001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0.8333±0.0016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11480" y="1417320"/>
            <a:ext cx="11384280" cy="222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783080"/>
            <a:ext cx="11384280" cy="1587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3611880"/>
            <a:ext cx="11384280" cy="222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3931920"/>
            <a:ext cx="11384280" cy="594360"/>
          </a:xfrm>
          <a:prstGeom prst="roundRect">
            <a:avLst/>
          </a:prstGeom>
          <a:solidFill>
            <a:srgbClr val="E6F4EA"/>
          </a:solidFill>
          <a:ln w="13970">
            <a:solidFill>
              <a:srgbClr val="1E7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/>
            <a:r>
              <a:rPr sz="1400" b="1" i="0">
                <a:solidFill>
                  <a:srgbClr val="1E7B34"/>
                </a:solidFill>
                <a:latin typeface="Arial"/>
              </a:rPr>
              <a:t>PopAware-BEST vs. LightGCN:  TailRecall ×6.5   •   Coverage +35%   •   ARP −6.3%   •   HeadExposure −7.9%   •   Recall +4.0%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754880"/>
            <a:ext cx="11384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50" b="0" i="0">
                <a:solidFill>
                  <a:srgbClr val="333333"/>
                </a:solidFill>
                <a:latin typeface="Arial"/>
              </a:rPr>
              <a:t>– Mean±std intervals for baseline vs. every PopAware configuration do not overlap on the bias metrics — the improvement is statistically robust, not seed noise.</a:t>
            </a:r>
          </a:p>
          <a:p>
            <a:pPr>
              <a:spcAft>
                <a:spcPts val="800"/>
              </a:spcAft>
            </a:pPr>
            <a:r>
              <a:rPr sz="1450" b="0" i="0">
                <a:solidFill>
                  <a:srgbClr val="333333"/>
                </a:solidFill>
                <a:latin typeface="Arial"/>
              </a:rPr>
              <a:t>– Three of four PopAware configurations (accuracy, BEST, high-tail) reduce bias while simultaneously improving Recall/NDCG over the baseline; only "fairness" trades accuracy for the strongest debiasing.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83680"/>
            <a:ext cx="548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888888"/>
                </a:solidFill>
                <a:latin typeface="Arial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83680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1">
                <a:solidFill>
                  <a:srgbClr val="999999"/>
                </a:solidFill>
                <a:latin typeface="Arial"/>
              </a:rPr>
              <a:t>Popularity-Aware LightGCN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2E74B5"/>
                </a:solidFill>
                <a:latin typeface="Arial"/>
              </a:rPr>
              <a:t>RESULTS</a:t>
            </a:r>
          </a:p>
          <a:p>
            <a:r>
              <a:rPr sz="2600" b="1" i="0">
                <a:solidFill>
                  <a:srgbClr val="1F4E79"/>
                </a:solidFill>
                <a:latin typeface="Arial"/>
              </a:rPr>
              <a:t>Frontier: Accuracy vs. Fairness Trade-off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11155680" cy="279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rontie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341" y="1325880"/>
            <a:ext cx="7775012" cy="4251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692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 i="0">
                <a:solidFill>
                  <a:srgbClr val="333333"/>
                </a:solidFill>
                <a:latin typeface="Arial"/>
              </a:rPr>
              <a:t>– The four PopAware configurations form a selectable frontier — BPR-MF is only a single fixed point.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333333"/>
                </a:solidFill>
                <a:latin typeface="Arial"/>
              </a:rPr>
              <a:t>– The PopAware cluster sits to the right of plain LightGCN (higher Recall); "fairness" trades the most accuracy for the best Coverage/HeadExposure.</a:t>
            </a:r>
          </a:p>
          <a:p>
            <a:pPr>
              <a:spcAft>
                <a:spcPts val="300"/>
              </a:spcAft>
            </a:pPr>
            <a:r>
              <a:rPr sz="1200" b="1" i="0">
                <a:solidFill>
                  <a:srgbClr val="1F4E79"/>
                </a:solidFill>
                <a:latin typeface="Arial"/>
              </a:rPr>
              <a:t>– Note: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MostPopular/BPR-MF are single reference runs; LightGCN baseline and PopAware points are 3-seed means.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83680"/>
            <a:ext cx="548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888888"/>
                </a:solidFill>
                <a:latin typeface="Arial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1">
                <a:solidFill>
                  <a:srgbClr val="999999"/>
                </a:solidFill>
                <a:latin typeface="Arial"/>
              </a:rPr>
              <a:t>Popularity-Aware LightGCN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2E74B5"/>
                </a:solidFill>
                <a:latin typeface="Arial"/>
              </a:rPr>
              <a:t>ANALYSIS &amp; CONCLUSION</a:t>
            </a:r>
          </a:p>
          <a:p>
            <a:r>
              <a:rPr sz="2600" b="1" i="0">
                <a:solidFill>
                  <a:srgbClr val="1F4E79"/>
                </a:solidFill>
                <a:latin typeface="Arial"/>
              </a:rPr>
              <a:t>Does the Method Meet Its Goals?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11155680" cy="279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80160"/>
          <a:ext cx="113842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6320"/>
                <a:gridCol w="5623560"/>
                <a:gridCol w="914400"/>
              </a:tblGrid>
              <a:tr h="333102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222222"/>
                          </a:solidFill>
                          <a:latin typeface="Arial"/>
                        </a:rPr>
                        <a:t>Original goal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222222"/>
                          </a:solidFill>
                          <a:latin typeface="Arial"/>
                        </a:rPr>
                        <a:t>Measured result (BEST vs. baseline)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222222"/>
                          </a:solidFill>
                          <a:latin typeface="Arial"/>
                        </a:rPr>
                        <a:t>Met?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</a:tr>
              <a:tr h="333102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3333"/>
                          </a:solidFill>
                          <a:latin typeface="Arial"/>
                        </a:rPr>
                        <a:t>TailRecall@20 increases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3333"/>
                          </a:solidFill>
                          <a:latin typeface="Arial"/>
                        </a:rPr>
                        <a:t>0.0050 → 0.0324 (×6.5)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1E7B34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</a:tr>
              <a:tr h="333102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3333"/>
                          </a:solidFill>
                          <a:latin typeface="Arial"/>
                        </a:rPr>
                        <a:t>Coverage@20 increases</a:t>
                      </a:r>
                    </a:p>
                  </a:txBody>
                  <a:tcPr anchor="ctr" marT="38100" marB="38100" marL="76200" marR="76200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3333"/>
                          </a:solidFill>
                          <a:latin typeface="Arial"/>
                        </a:rPr>
                        <a:t>0.398 → 0.538 (+35%)</a:t>
                      </a:r>
                    </a:p>
                  </a:txBody>
                  <a:tcPr anchor="ctr" marT="38100" marB="38100" marL="76200" marR="76200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1E7B34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anchor="ctr" marT="38100" marB="38100" marL="76200" marR="76200">
                    <a:solidFill>
                      <a:srgbClr val="F7F7F7"/>
                    </a:solidFill>
                  </a:tcPr>
                </a:tc>
              </a:tr>
              <a:tr h="333102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3333"/>
                          </a:solidFill>
                          <a:latin typeface="Arial"/>
                        </a:rPr>
                        <a:t>ARP@20 decreases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3333"/>
                          </a:solidFill>
                          <a:latin typeface="Arial"/>
                        </a:rPr>
                        <a:t>6.833 → 6.400 (−6.3%)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1E7B34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</a:tr>
              <a:tr h="333102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3333"/>
                          </a:solidFill>
                          <a:latin typeface="Arial"/>
                        </a:rPr>
                        <a:t>HeadExposure@20 decreases</a:t>
                      </a:r>
                    </a:p>
                  </a:txBody>
                  <a:tcPr anchor="ctr" marT="38100" marB="38100" marL="76200" marR="76200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3333"/>
                          </a:solidFill>
                          <a:latin typeface="Arial"/>
                        </a:rPr>
                        <a:t>0.9587 → 0.8826 (−7.9%)</a:t>
                      </a:r>
                    </a:p>
                  </a:txBody>
                  <a:tcPr anchor="ctr" marT="38100" marB="38100" marL="76200" marR="76200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1E7B34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anchor="ctr" marT="38100" marB="38100" marL="76200" marR="76200">
                    <a:solidFill>
                      <a:srgbClr val="F7F7F7"/>
                    </a:solidFill>
                  </a:tcPr>
                </a:tc>
              </a:tr>
              <a:tr h="333102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3333"/>
                          </a:solidFill>
                          <a:latin typeface="Arial"/>
                        </a:rPr>
                        <a:t>Recall/NDCG do not drop sharply (≤5%)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3333"/>
                          </a:solidFill>
                          <a:latin typeface="Arial"/>
                        </a:rPr>
                        <a:t>Recall +4.0%, NDCG slightly up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1E7B34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</a:tr>
              <a:tr h="33310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3333"/>
                          </a:solidFill>
                          <a:latin typeface="Arial"/>
                        </a:rPr>
                        <a:t>TailRecall gain is "reasonable" (not extreme)</a:t>
                      </a:r>
                    </a:p>
                  </a:txBody>
                  <a:tcPr anchor="ctr" marT="38100" marB="38100" marL="76200" marR="76200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3333"/>
                          </a:solidFill>
                          <a:latin typeface="Arial"/>
                        </a:rPr>
                        <a:t>×6.5 baseline, less extreme than high-tail (×8.0)</a:t>
                      </a:r>
                    </a:p>
                  </a:txBody>
                  <a:tcPr anchor="ctr" marT="38100" marB="38100" marL="76200" marR="76200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1E7B34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anchor="ctr" marT="38100" marB="38100" marL="76200" marR="7620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11480" y="1280160"/>
            <a:ext cx="11384280" cy="222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613262"/>
            <a:ext cx="11384280" cy="1587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3611880"/>
            <a:ext cx="11384280" cy="222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3749039"/>
            <a:ext cx="11384280" cy="457200"/>
          </a:xfrm>
          <a:prstGeom prst="roundRect">
            <a:avLst/>
          </a:prstGeom>
          <a:solidFill>
            <a:srgbClr val="E6F4EA"/>
          </a:solidFill>
          <a:ln w="13970">
            <a:solidFill>
              <a:srgbClr val="1E7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/>
            <a:r>
              <a:rPr sz="1350" b="1" i="0">
                <a:solidFill>
                  <a:srgbClr val="1E7B34"/>
                </a:solidFill>
                <a:latin typeface="Arial"/>
              </a:rPr>
              <a:t>6/6 original criteria met at PopAware-BEST — confirmed statistically significant across 3 seeds, not a single lucky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343400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B55B0A"/>
                </a:solidFill>
                <a:latin typeface="Arial"/>
              </a:rPr>
              <a:t>Honest limitations: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617720"/>
            <a:ext cx="113842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80" b="0" i="0">
                <a:solidFill>
                  <a:srgbClr val="333333"/>
                </a:solidFill>
                <a:latin typeface="Arial"/>
              </a:rPr>
              <a:t>– Degree-Aware Augmentation only shapes the two contrastive-learning views in every reported run (aug_main=False) — its standalone effect on the main graph is not yet validated with 3-seed ablations.</a:t>
            </a:r>
          </a:p>
          <a:p>
            <a:pPr>
              <a:spcAft>
                <a:spcPts val="500"/>
              </a:spcAft>
            </a:pPr>
            <a:r>
              <a:rPr sz="1180" b="0" i="0">
                <a:solidFill>
                  <a:srgbClr val="333333"/>
                </a:solidFill>
                <a:latin typeface="Arial"/>
              </a:rPr>
              <a:t>– Coverage@20 at the balanced point (0.538) is still below BPR-MF (0.628).</a:t>
            </a:r>
          </a:p>
          <a:p>
            <a:pPr>
              <a:spcAft>
                <a:spcPts val="500"/>
              </a:spcAft>
            </a:pPr>
            <a:r>
              <a:rPr sz="1180" b="0" i="0">
                <a:solidFill>
                  <a:srgbClr val="333333"/>
                </a:solidFill>
                <a:latin typeface="Arial"/>
              </a:rPr>
              <a:t>– TailRecall's absolute value stays small (~0.03) — read this as "substantially reduced bias", not "long-tail solved".</a:t>
            </a:r>
          </a:p>
          <a:p>
            <a:pPr>
              <a:spcAft>
                <a:spcPts val="500"/>
              </a:spcAft>
            </a:pPr>
            <a:r>
              <a:rPr sz="1180" b="0" i="0">
                <a:solidFill>
                  <a:srgbClr val="333333"/>
                </a:solidFill>
                <a:latin typeface="Arial"/>
              </a:rPr>
              <a:t>– Operating-point hyperparameters (λ, β) were chosen via a frontier rule computed on the sweep's TEST metrics, not a held-out validation split — a mild form of test-based tuning to disclose upfront.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583680"/>
            <a:ext cx="548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888888"/>
                </a:solidFill>
                <a:latin typeface="Arial"/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1">
                <a:solidFill>
                  <a:srgbClr val="999999"/>
                </a:solidFill>
                <a:latin typeface="Arial"/>
              </a:rPr>
              <a:t>Popularity-Aware LightGCN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